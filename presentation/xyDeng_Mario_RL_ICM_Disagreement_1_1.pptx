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dc6a6dc75a04232" /><Relationship Type="http://schemas.openxmlformats.org/officeDocument/2006/relationships/extended-properties" Target="/docProps/app.xml" Id="Rd3b088f696804b34" /><Relationship Type="http://schemas.openxmlformats.org/officeDocument/2006/relationships/officeDocument" Target="/ppt/presentation.xml" Id="Rf87db975a143436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5b56a4704194ca9"/>
  </p:sldMasterIdLst>
  <p:notesMasterIdLst>
    <p:notesMasterId xmlns:r="http://schemas.openxmlformats.org/officeDocument/2006/relationships" r:id="R3967d875dd0244e0"/>
  </p:notesMasterIdLst>
  <p:sldIdLst>
    <p:sldId xmlns:r="http://schemas.openxmlformats.org/officeDocument/2006/relationships" id="256" r:id="R59cc505a223043b6"/>
    <p:sldId xmlns:r="http://schemas.openxmlformats.org/officeDocument/2006/relationships" id="257" r:id="R6e0122bb4bdc4cdb"/>
    <p:sldId xmlns:r="http://schemas.openxmlformats.org/officeDocument/2006/relationships" id="258" r:id="R254cb4c10c5c4eda"/>
    <p:sldId xmlns:r="http://schemas.openxmlformats.org/officeDocument/2006/relationships" id="259" r:id="R8167b30ac5d84823"/>
    <p:sldId xmlns:r="http://schemas.openxmlformats.org/officeDocument/2006/relationships" id="260" r:id="R30a2f006da3a4853"/>
    <p:sldId xmlns:r="http://schemas.openxmlformats.org/officeDocument/2006/relationships" id="261" r:id="R971e5fc8236a495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12ffb0eb49f4c63" /><Relationship Type="http://schemas.openxmlformats.org/officeDocument/2006/relationships/slideMaster" Target="/ppt/slideMasters/slideMaster1.xml" Id="R45b56a4704194ca9" /><Relationship Type="http://schemas.openxmlformats.org/officeDocument/2006/relationships/notesMaster" Target="/ppt/notesMasters/notesMaster1.xml" Id="R3967d875dd0244e0" /><Relationship Type="http://schemas.openxmlformats.org/officeDocument/2006/relationships/presProps" Target="/ppt/presProps.xml" Id="R85408c101b274701" /><Relationship Type="http://schemas.openxmlformats.org/officeDocument/2006/relationships/tableStyles" Target="/ppt/tableStyles.xml" Id="Rf461cbd5d99442c4" /><Relationship Type="http://schemas.openxmlformats.org/officeDocument/2006/relationships/slide" Target="/ppt/slides/slide1.xml" Id="R59cc505a223043b6" /><Relationship Type="http://schemas.openxmlformats.org/officeDocument/2006/relationships/slide" Target="/ppt/slides/slide2.xml" Id="R6e0122bb4bdc4cdb" /><Relationship Type="http://schemas.openxmlformats.org/officeDocument/2006/relationships/slide" Target="/ppt/slides/slide3.xml" Id="R254cb4c10c5c4eda" /><Relationship Type="http://schemas.openxmlformats.org/officeDocument/2006/relationships/slide" Target="/ppt/slides/slide4.xml" Id="R8167b30ac5d84823" /><Relationship Type="http://schemas.openxmlformats.org/officeDocument/2006/relationships/slide" Target="/ppt/slides/slide5.xml" Id="R30a2f006da3a4853" /><Relationship Type="http://schemas.openxmlformats.org/officeDocument/2006/relationships/slide" Target="/ppt/slides/slide6.xml" Id="R971e5fc8236a495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9a472eb103b47d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770aef2fc3742a8" /><Relationship Type="http://schemas.openxmlformats.org/officeDocument/2006/relationships/notesMaster" Target="/ppt/notesMasters/notesMaster1.xml" Id="R8ee9cfad5afd443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4e09e97ff91430f" /><Relationship Type="http://schemas.openxmlformats.org/officeDocument/2006/relationships/notesMaster" Target="/ppt/notesMasters/notesMaster1.xml" Id="R37d85e6e880a454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a2dc7e6d3e74e5a" /><Relationship Type="http://schemas.openxmlformats.org/officeDocument/2006/relationships/notesMaster" Target="/ppt/notesMasters/notesMaster1.xml" Id="Reeea153f1fde483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5a29f64167f4a26" /><Relationship Type="http://schemas.openxmlformats.org/officeDocument/2006/relationships/notesMaster" Target="/ppt/notesMasters/notesMaster1.xml" Id="Rfbc0903004ad489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daa19d5a6e94fdc" /><Relationship Type="http://schemas.openxmlformats.org/officeDocument/2006/relationships/notesMaster" Target="/ppt/notesMasters/notesMaster1.xml" Id="R042d868f49ba4eb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bbc75c69afd4d3a" /><Relationship Type="http://schemas.openxmlformats.org/officeDocument/2006/relationships/notesMaster" Target="/ppt/notesMasters/notesMaster1.xml" Id="R7f70d0ff8cda46d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10015800ad40b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fc966d406df4aea" /><Relationship Type="http://schemas.openxmlformats.org/officeDocument/2006/relationships/slideLayout" Target="/ppt/slideLayouts/slideLayout1.xml" Id="R8247908ed22b43e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47908ed22b43e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73f3877346411b" /><Relationship Type="http://schemas.openxmlformats.org/officeDocument/2006/relationships/image" Target="/ppt/media/image.png" Id="R5603abb086a449f8" /><Relationship Type="http://schemas.openxmlformats.org/officeDocument/2006/relationships/image" Target="/ppt/media/image2.png" Id="R4b7a9b75fc7845ed" /><Relationship Type="http://schemas.openxmlformats.org/officeDocument/2006/relationships/notesSlide" Target="/ppt/notesSlides/notesSlide1.xml" Id="R1dc1d00d628d489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c1f2e37902456d" /><Relationship Type="http://schemas.openxmlformats.org/officeDocument/2006/relationships/image" Target="/ppt/media/image3.png" Id="R7cd40cb114664cc1" /><Relationship Type="http://schemas.openxmlformats.org/officeDocument/2006/relationships/image" Target="/ppt/media/image4.png" Id="R07334acf4a604a66" /><Relationship Type="http://schemas.openxmlformats.org/officeDocument/2006/relationships/notesSlide" Target="/ppt/notesSlides/notesSlide2.xml" Id="Re31950fae28044e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1b1fd53a7e47c1" /><Relationship Type="http://schemas.openxmlformats.org/officeDocument/2006/relationships/image" Target="/ppt/media/image5.png" Id="Rf3322813a1314c00" /><Relationship Type="http://schemas.openxmlformats.org/officeDocument/2006/relationships/image" Target="/ppt/media/image6.png" Id="Rfb771aec34b848ed" /><Relationship Type="http://schemas.openxmlformats.org/officeDocument/2006/relationships/notesSlide" Target="/ppt/notesSlides/notesSlide3.xml" Id="Rebe57ccbd6f04de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92b52d15d44346" /><Relationship Type="http://schemas.openxmlformats.org/officeDocument/2006/relationships/image" Target="/ppt/media/image7.png" Id="R19ba15dc55124a5f" /><Relationship Type="http://schemas.openxmlformats.org/officeDocument/2006/relationships/image" Target="/ppt/media/image8.png" Id="R6a30a256f12143bd" /><Relationship Type="http://schemas.openxmlformats.org/officeDocument/2006/relationships/notesSlide" Target="/ppt/notesSlides/notesSlide4.xml" Id="R6d534db44a68440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ff334db8854e41" /><Relationship Type="http://schemas.openxmlformats.org/officeDocument/2006/relationships/image" Target="/ppt/media/image9.png" Id="R107bed9ce916481d" /><Relationship Type="http://schemas.openxmlformats.org/officeDocument/2006/relationships/image" Target="/ppt/media/image10.png" Id="Rb2f092dd62b54ee7" /><Relationship Type="http://schemas.openxmlformats.org/officeDocument/2006/relationships/notesSlide" Target="/ppt/notesSlides/notesSlide5.xml" Id="R6855a492580e4ff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8a8e1c090c4d9b" /><Relationship Type="http://schemas.openxmlformats.org/officeDocument/2006/relationships/notesSlide" Target="/ppt/notesSlides/notesSlide6.xml" Id="Rc1db0a98e7914b4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E42F72-7176-49F8-9DD6-4A41659D0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57175"/>
            <a:ext cx="971550" cy="295275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005CA8"/>
          </a:solidFill>
          <a:ln xmlns:a="http://schemas.openxmlformats.org/drawingml/2006/main" w="0">
            <a:solidFill>
              <a:srgbClr val="005CA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方法 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523497-6197-4038-8E1D-EF3599106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905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PPO + ICM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89F8A8-ABC0-4868-98D7-E23BC5A38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60960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方法机制、训练设置与内在奖励接入方式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AF82D3-A664-4910-AD58-ECAB0826D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09550"/>
            <a:ext cx="2133600" cy="504825"/>
          </a:xfrm>
          <a:prstGeom xmlns:a="http://schemas.openxmlformats.org/drawingml/2006/main" prst="roundRect">
            <a:avLst>
              <a:gd name="adj" fmla="val 18868"/>
            </a:avLst>
          </a:prstGeom>
          <a:solidFill xmlns:a="http://schemas.openxmlformats.org/drawingml/2006/main">
            <a:srgbClr val="EFF5FB"/>
          </a:solidFill>
          <a:ln xmlns:a="http://schemas.openxmlformats.org/drawingml/2006/main" w="9525">
            <a:solidFill>
              <a:srgbClr val="D7E2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Mario RL / PPO intrinsic rewards</a:t>
            </a:r>
          </a:p>
          <a:p xmlns:a="http://schemas.openxmlformats.org/drawingml/2006/main">
            <a:pPr algn="ctr">
              <a:defRPr sz="75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1M steps · seed 1 · 1-1 only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E6DF5C-CFE3-49D8-809F-09D75D3AD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76300"/>
            <a:ext cx="114109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EF"/>
          </a:solidFill>
          <a:ln xmlns:a="http://schemas.openxmlformats.org/drawingml/2006/main" w="0">
            <a:solidFill>
              <a:srgbClr val="DDE6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6E75BD-4759-4304-9AFA-594EB328A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76325"/>
            <a:ext cx="3705225" cy="2009775"/>
          </a:xfrm>
          <a:prstGeom xmlns:a="http://schemas.openxmlformats.org/drawingml/2006/main" prst="roundRect">
            <a:avLst>
              <a:gd name="adj" fmla="val 132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B3D9E2-8715-46C1-A4FC-E9A3A0661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228725"/>
            <a:ext cx="11430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5CA8"/>
          </a:solidFill>
          <a:ln xmlns:a="http://schemas.openxmlformats.org/drawingml/2006/main" w="0">
            <a:solidFill>
              <a:srgbClr val="005CA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1. 方法定位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C8019C-41DD-4968-B897-4E9B58719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47825"/>
            <a:ext cx="304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Learns inverse and forward dynamics in latent space.</a:t>
            </a:r>
          </a:p>
          <a:p xmlns:a="http://schemas.openxmlformats.org/drawingml/2006/main">
            <a:pPr algn="ctr">
              <a:defRPr sz="975" b="0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Curiosity reward is the forward prediction error.</a:t>
            </a:r>
          </a:p>
          <a:p xmlns:a="http://schemas.openxmlformats.org/drawingml/2006/main">
            <a:pPr algn="ctr">
              <a:defRPr sz="975" b="0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PPO receives r_total = r_ext + β·r_ICM.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3AC8CD-6DAC-4449-904C-A3F49DC22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3095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共同 backbone: PPO + CNN Actor-Critic；方法差异集中在 intrinsic reward module.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888EE8-2BFD-4F86-BAD8-78054A3EA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1076325"/>
            <a:ext cx="3048000" cy="2009775"/>
          </a:xfrm>
          <a:prstGeom xmlns:a="http://schemas.openxmlformats.org/drawingml/2006/main" prst="roundRect">
            <a:avLst>
              <a:gd name="adj" fmla="val 132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D19C9A-589B-4CC5-B19C-DC14F58F4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228725"/>
            <a:ext cx="11430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5CA8"/>
          </a:solidFill>
          <a:ln xmlns:a="http://schemas.openxmlformats.org/drawingml/2006/main" w="0">
            <a:solidFill>
              <a:srgbClr val="005CA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2. 关键超参数</a:t>
            </a:r>
          </a:p>
        </p:txBody>
      </p:sp>
      <p:graphicFrame>
        <p:nvGraphicFramePr>
          <p:cNvPr id="60" name=""/>
          <p:cNvGraphicFramePr/>
          <p:nvPr/>
        </p:nvGraphicFramePr>
        <p:xfrm>
          <a:off xmlns:a="http://schemas.openxmlformats.org/drawingml/2006/main" x="4591050" y="1581150"/>
          <a:ext xmlns:a="http://schemas.openxmlformats.org/drawingml/2006/main" cx="2676525" cy="12954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338263"/>
                <a:gridCol w="1338263"/>
              </a:tblGrid>
              <a:tr h="215900"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</a:t>
                      </a:r>
                    </a:p>
                  </a:txBody>
                  <a:tcPr marL="91440" marR="91440" marT="45720" marB="45720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值</a:t>
                      </a:r>
                    </a:p>
                  </a:txBody>
                  <a:tcPr marL="91440" marR="91440" marT="45720" marB="45720">
                    <a:solidFill>
                      <a:srgbClr val="E8EEF5"/>
                    </a:solidFill>
                  </a:tcPr>
                </a:tc>
              </a:tr>
              <a:tr h="215900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Intrinsic type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ICM</a:t>
                      </a:r>
                    </a:p>
                  </a:txBody>
                  <a:tcPr marL="91440" marR="91440" marT="45720" marB="45720"/>
                </a:tc>
              </a:tr>
              <a:tr h="215900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beta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0.001</a:t>
                      </a:r>
                    </a:p>
                  </a:txBody>
                  <a:tcPr marL="91440" marR="91440" marT="45720" marB="45720"/>
                </a:tc>
              </a:tr>
              <a:tr h="215900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latent_dim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128</a:t>
                      </a:r>
                    </a:p>
                  </a:txBody>
                  <a:tcPr marL="91440" marR="91440" marT="45720" marB="45720"/>
                </a:tc>
              </a:tr>
              <a:tr h="215900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module lr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0.0001</a:t>
                      </a:r>
                    </a:p>
                  </a:txBody>
                  <a:tcPr marL="91440" marR="91440" marT="45720" marB="45720"/>
                </a:tc>
              </a:tr>
              <a:tr h="215900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batch/update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32 / 1.0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BFD431-19A4-41C1-9021-9723F634C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1076325"/>
            <a:ext cx="4038600" cy="2009775"/>
          </a:xfrm>
          <a:prstGeom xmlns:a="http://schemas.openxmlformats.org/drawingml/2006/main" prst="roundRect">
            <a:avLst>
              <a:gd name="adj" fmla="val 132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2E35F1-25DB-4033-A0F5-0A8611FC5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228725"/>
            <a:ext cx="11430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5CA8"/>
          </a:solidFill>
          <a:ln xmlns:a="http://schemas.openxmlformats.org/drawingml/2006/main" w="0">
            <a:solidFill>
              <a:srgbClr val="005CA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3. 实验协议</a:t>
            </a:r>
          </a:p>
        </p:txBody>
      </p:sp>
      <p:graphicFrame>
        <p:nvGraphicFramePr>
          <p:cNvPr id="63" name=""/>
          <p:cNvGraphicFramePr/>
          <p:nvPr/>
        </p:nvGraphicFramePr>
        <p:xfrm>
          <a:off xmlns:a="http://schemas.openxmlformats.org/drawingml/2006/main" x="7886700" y="1581150"/>
          <a:ext xmlns:a="http://schemas.openxmlformats.org/drawingml/2006/main" cx="3638550" cy="12954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819275"/>
                <a:gridCol w="1819275"/>
              </a:tblGrid>
              <a:tr h="185057"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</a:t>
                      </a:r>
                    </a:p>
                  </a:txBody>
                  <a:tcPr marL="91440" marR="91440" marT="45720" marB="45720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值</a:t>
                      </a:r>
                    </a:p>
                  </a:txBody>
                  <a:tcPr marL="91440" marR="91440" marT="45720" marB="45720">
                    <a:solidFill>
                      <a:srgbClr val="E8EEF5"/>
                    </a:solidFill>
                  </a:tcPr>
                </a:tc>
              </a:tr>
              <a:tr h="185057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训练环境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SuperMarioBros-1-1-v0</a:t>
                      </a:r>
                    </a:p>
                  </a:txBody>
                  <a:tcPr marL="91440" marR="91440" marT="45720" marB="45720"/>
                </a:tc>
              </a:tr>
              <a:tr h="185057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4-frame stack, 84x84</a:t>
                      </a:r>
                    </a:p>
                  </a:txBody>
                  <a:tcPr marL="91440" marR="91440" marT="45720" marB="45720"/>
                </a:tc>
              </a:tr>
              <a:tr h="185057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动作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SIMPLE_MOVEMENT, 7 actions</a:t>
                      </a:r>
                    </a:p>
                  </a:txBody>
                  <a:tcPr marL="91440" marR="91440" marT="45720" marB="45720"/>
                </a:tc>
              </a:tr>
              <a:tr h="185057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训练步数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1,000,000 timesteps</a:t>
                      </a:r>
                    </a:p>
                  </a:txBody>
                  <a:tcPr marL="91440" marR="91440" marT="45720" marB="45720"/>
                </a:tc>
              </a:tr>
              <a:tr h="185057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评估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sample / greedy; best by sample validation</a:t>
                      </a:r>
                    </a:p>
                  </a:txBody>
                  <a:tcPr marL="91440" marR="91440" marT="45720" marB="45720"/>
                </a:tc>
              </a:tr>
              <a:tr h="185057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seed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B10D95-1C19-4DA7-B823-A6717D04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276600"/>
            <a:ext cx="4981575" cy="2428875"/>
          </a:xfrm>
          <a:prstGeom xmlns:a="http://schemas.openxmlformats.org/drawingml/2006/main" prst="roundRect">
            <a:avLst>
              <a:gd name="adj" fmla="val 109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D04B39-C7C5-4921-B9A2-1BE9EB9BF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5C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005CA8"/>
                </a:solidFill>
                <a:latin typeface="Microsoft YaHei"/>
                <a:ea typeface="Microsoft YaHei"/>
                <a:cs typeface="Microsoft YaHei"/>
              </a:rPr>
              <a:t>训练数据流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08B103-BDD1-42C8-97B9-364D69119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810000"/>
            <a:ext cx="123825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E7F1FB"/>
          </a:solidFill>
          <a:ln xmlns:a="http://schemas.openxmlformats.org/drawingml/2006/main" w="9525">
            <a:solidFill>
              <a:srgbClr val="CAD8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Observation</a:t>
            </a:r>
          </a:p>
          <a:p xmlns:a="http://schemas.openxmlformats.org/drawingml/2006/main">
            <a:pPr algn="ctr">
              <a:def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4×84×84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6A98A7-0B94-4158-A3DA-43FF55D80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810000"/>
            <a:ext cx="1304925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E7F1FB"/>
          </a:solidFill>
          <a:ln xmlns:a="http://schemas.openxmlformats.org/drawingml/2006/main" w="9525">
            <a:solidFill>
              <a:srgbClr val="CAD8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CNN</a:t>
            </a:r>
          </a:p>
          <a:p xmlns:a="http://schemas.openxmlformats.org/drawingml/2006/main">
            <a:pPr algn="ctr">
              <a:def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Actor-Critic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94C28D-6F40-454B-82D7-88C84F331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810000"/>
            <a:ext cx="1381125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E7F1FB"/>
          </a:solidFill>
          <a:ln xmlns:a="http://schemas.openxmlformats.org/drawingml/2006/main" w="9525">
            <a:solidFill>
              <a:srgbClr val="CAD8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Policy / Value</a:t>
            </a:r>
          </a:p>
          <a:p xmlns:a="http://schemas.openxmlformats.org/drawingml/2006/main">
            <a:pPr algn="ctr">
              <a:def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PPO update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0ADE1C-0114-4DCF-A27F-F8E66C1CB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695825"/>
            <a:ext cx="1304925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EFFCF7"/>
          </a:solidFill>
          <a:ln xmlns:a="http://schemas.openxmlformats.org/drawingml/2006/main" w="9525">
            <a:solidFill>
              <a:srgbClr val="CAD8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ICM</a:t>
            </a:r>
          </a:p>
          <a:p xmlns:a="http://schemas.openxmlformats.org/drawingml/2006/main">
            <a:pPr algn="ctr">
              <a:def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intrinsic module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E7D4E1-D4B1-4568-A29F-0CDD29F8D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695825"/>
            <a:ext cx="1381125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FFF7EB"/>
          </a:solidFill>
          <a:ln xmlns:a="http://schemas.openxmlformats.org/drawingml/2006/main" w="9525">
            <a:solidFill>
              <a:srgbClr val="CAD8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r_total = r_ext</a:t>
            </a:r>
          </a:p>
          <a:p xmlns:a="http://schemas.openxmlformats.org/drawingml/2006/main">
            <a:pPr algn="ctr">
              <a:def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+ β·r_int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A7BD17-D6FE-4391-8E5D-E25B129C2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057650"/>
            <a:ext cx="2762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7D8FA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947824-73BB-4D34-8551-B88930DA6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057650"/>
            <a:ext cx="2952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7D8FA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B3C7EE-75F4-4359-953B-0C2081D46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314825"/>
            <a:ext cx="0" cy="381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7D8FA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5224CF-1DB3-442B-81CC-BCD5D8F2D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514850"/>
            <a:ext cx="276225" cy="4095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7D8FA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6BC8AB6-447E-4E29-A2CC-55B08A3C8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943475"/>
            <a:ext cx="2952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7D8FA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9FB079-B856-4A7C-BAF7-0F19BC88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276600"/>
            <a:ext cx="6057900" cy="2428875"/>
          </a:xfrm>
          <a:prstGeom xmlns:a="http://schemas.openxmlformats.org/drawingml/2006/main" prst="roundRect">
            <a:avLst>
              <a:gd name="adj" fmla="val 109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4DF52F3-C280-4079-BFC0-5691A1925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429000"/>
            <a:ext cx="11430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5CA8"/>
          </a:solidFill>
          <a:ln xmlns:a="http://schemas.openxmlformats.org/drawingml/2006/main" w="0">
            <a:solidFill>
              <a:srgbClr val="005CA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4. 训练观测</a:t>
            </a:r>
          </a:p>
        </p:txBody>
      </p:sp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03abb086a449f8"/>
          <a:stretch xmlns:a="http://schemas.openxmlformats.org/drawingml/2006/main"/>
        </p:blipFill>
        <p:spPr>
          <a:xfrm xmlns:a="http://schemas.openxmlformats.org/drawingml/2006/main">
            <a:off x="6598920" y="3876675"/>
            <a:ext cx="2023110" cy="1123950"/>
          </a:xfrm>
          <a:prstGeom xmlns:a="http://schemas.openxmlformats.org/drawingml/2006/main" prst="rect">
            <a:avLst/>
          </a:prstGeom>
        </p:spPr>
      </p:pic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7a9b75fc7845ed"/>
          <a:stretch xmlns:a="http://schemas.openxmlformats.org/drawingml/2006/main"/>
        </p:blipFill>
        <p:spPr>
          <a:xfrm xmlns:a="http://schemas.openxmlformats.org/drawingml/2006/main">
            <a:off x="9458325" y="3892550"/>
            <a:ext cx="2000250" cy="1111250"/>
          </a:xfrm>
          <a:prstGeom xmlns:a="http://schemas.openxmlformats.org/drawingml/2006/main" prst="rect">
            <a:avLst/>
          </a:prstGeom>
        </p:spPr>
      </p:pic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47268B8-539F-4E0F-85B5-1E59D3EB4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191125"/>
            <a:ext cx="14859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9156256-32DD-4D55-AF38-011171228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267325"/>
            <a:ext cx="12954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validation sample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534CEB7-A7F6-4857-A04C-97BEE1438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448300"/>
            <a:ext cx="1295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5CA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5CA8"/>
                </a:solidFill>
                <a:latin typeface="Arial"/>
                <a:ea typeface="Arial"/>
                <a:cs typeface="Arial"/>
              </a:rPr>
              <a:t>x=1237.2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BE40C3B-3944-4CF7-A774-94058B984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686425"/>
            <a:ext cx="1295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best step 900k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07E8E26-ABCC-41CE-B8AB-BFA6DF871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191125"/>
            <a:ext cx="14859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CC99450-DAD7-4458-971C-80D68B377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5267325"/>
            <a:ext cx="12954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test sample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4754748-1E6A-4820-81F1-083F23A2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5448300"/>
            <a:ext cx="1295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5CA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5CA8"/>
                </a:solidFill>
                <a:latin typeface="Arial"/>
                <a:ea typeface="Arial"/>
                <a:cs typeface="Arial"/>
              </a:rPr>
              <a:t>x=785.0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D450DAC-D468-4D13-8224-48705687E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5686425"/>
            <a:ext cx="1295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5-episode sample mean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F993ED4-12A1-4B91-B838-724AFE074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191125"/>
            <a:ext cx="15811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1BCE6C3-DA6F-4AEB-BCA6-F88DA67F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267325"/>
            <a:ext cx="13906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train terminal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0492435-2DAA-4B42-BE36-063B019F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44830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5CA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5CA8"/>
                </a:solidFill>
                <a:latin typeface="Arial"/>
                <a:ea typeface="Arial"/>
                <a:cs typeface="Arial"/>
              </a:rPr>
              <a:t>x=3161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C206BED-8409-4F03-A758-EA96FC093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686425"/>
            <a:ext cx="13906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4 inferred terminal episodes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6371C0A-5EC6-4EAB-829C-FA6387B52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5191125"/>
            <a:ext cx="8572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570237D-ACF6-4061-8541-A398FD939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267325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device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49BC532-3EBB-4E40-A2B4-32087D72E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44830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5CA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5CA8"/>
                </a:solidFill>
                <a:latin typeface="Arial"/>
                <a:ea typeface="Arial"/>
                <a:cs typeface="Arial"/>
              </a:rPr>
              <a:t>GPU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CE2EF23-A7E8-460E-93F3-EBCE48CD9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686425"/>
            <a:ext cx="6667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CUDA · 8.54 sec / 1k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3FFC767-FB37-4076-BF2C-D760F1F9B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6572250"/>
            <a:ext cx="781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75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Evidence: xyDeng 1M selected 1-1 runs; metrics from best_summary.json, one_million_run_metrics.csv, and training_completion_audit.md.</a:t>
            </a:r>
          </a:p>
        </p:txBody>
      </p:sp>
    </p:spTree>
    <p:extLst>
      <p:ext uri="{BB962C8B-B14F-4D97-AF65-F5344CB8AC3E}">
        <p14:creationId xmlns:p14="http://schemas.microsoft.com/office/powerpoint/2010/main" val="52682876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A97E8FA-60C8-420D-9FD1-A83D1EA35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57175"/>
            <a:ext cx="971550" cy="295275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005CA8"/>
          </a:solidFill>
          <a:ln xmlns:a="http://schemas.openxmlformats.org/drawingml/2006/main" w="0">
            <a:solidFill>
              <a:srgbClr val="005CA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方法 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A48733-971C-40CA-94BC-F23FFFD28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905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PPO + ICM: 1-1 sample outcomes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B9EEA5-139F-459D-8CE2-440EA5B80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60960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通关/进度、total_reward 与 max_x_pos 观察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E5BC61-EA4D-4A81-B6D9-E65DAA33B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09550"/>
            <a:ext cx="2133600" cy="504825"/>
          </a:xfrm>
          <a:prstGeom xmlns:a="http://schemas.openxmlformats.org/drawingml/2006/main" prst="roundRect">
            <a:avLst>
              <a:gd name="adj" fmla="val 18868"/>
            </a:avLst>
          </a:prstGeom>
          <a:solidFill xmlns:a="http://schemas.openxmlformats.org/drawingml/2006/main">
            <a:srgbClr val="EFF5FB"/>
          </a:solidFill>
          <a:ln xmlns:a="http://schemas.openxmlformats.org/drawingml/2006/main" w="9525">
            <a:solidFill>
              <a:srgbClr val="D7E2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Mario RL / PPO intrinsic rewards</a:t>
            </a:r>
          </a:p>
          <a:p xmlns:a="http://schemas.openxmlformats.org/drawingml/2006/main">
            <a:pPr algn="ctr">
              <a:defRPr sz="75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1M steps · seed 1 · 1-1 only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979C48-9430-4DBB-BBBE-46525E09A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76300"/>
            <a:ext cx="114109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EF"/>
          </a:solidFill>
          <a:ln xmlns:a="http://schemas.openxmlformats.org/drawingml/2006/main" w="0">
            <a:solidFill>
              <a:srgbClr val="DDE6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BE165E-C84F-4EB4-846F-A54573875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28700"/>
            <a:ext cx="11249025" cy="542925"/>
          </a:xfrm>
          <a:prstGeom xmlns:a="http://schemas.openxmlformats.org/drawingml/2006/main" prst="roundRect">
            <a:avLst>
              <a:gd name="adj" fmla="val 491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00FB8F-9C36-4040-B123-E49D28B08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00150"/>
            <a:ext cx="685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5C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005CA8"/>
                </a:solidFill>
                <a:latin typeface="Microsoft YaHei"/>
                <a:ea typeface="Microsoft YaHei"/>
                <a:cs typeface="Microsoft YaHei"/>
              </a:rPr>
              <a:t>评估口径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32441E-997F-431D-9933-D994623CC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1181100"/>
            <a:ext cx="847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训练与验证均限定 SuperMarioBros-1-1-v0；sample 模式用于 best checkpoint；视频为 sample20 / best-sample 搜索结果。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D93061-2902-4AEE-A3C6-A6DA12413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52600"/>
            <a:ext cx="3581400" cy="2038350"/>
          </a:xfrm>
          <a:prstGeom xmlns:a="http://schemas.openxmlformats.org/drawingml/2006/main" prst="roundRect">
            <a:avLst>
              <a:gd name="adj" fmla="val 1308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0D52B9-1F86-4D3B-BCB2-F84365A47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85950"/>
            <a:ext cx="173355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5CA8"/>
          </a:solidFill>
          <a:ln xmlns:a="http://schemas.openxmlformats.org/drawingml/2006/main" w="0">
            <a:solidFill>
              <a:srgbClr val="005CA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1-1 training 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09D159-96F7-4CC6-B321-B2F507E3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32410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5C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5CA8"/>
                </a:solidFill>
                <a:latin typeface="Microsoft YaHei"/>
                <a:ea typeface="Microsoft YaHei"/>
                <a:cs typeface="Microsoft YaHei"/>
              </a:rPr>
              <a:t>4 episodes reached</a:t>
            </a:r>
          </a:p>
          <a:p xmlns:a="http://schemas.openxmlformats.org/drawingml/2006/main">
            <a:pPr algn="ctr">
              <a:defRPr sz="1200" b="1">
                <a:solidFill>
                  <a:srgbClr val="005C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5CA8"/>
                </a:solidFill>
                <a:latin typeface="Microsoft YaHei"/>
                <a:ea typeface="Microsoft YaHei"/>
                <a:cs typeface="Microsoft YaHei"/>
              </a:rPr>
              <a:t>final_x=3161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824663-3ED7-46FD-9115-8DEE89C4D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09562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Original selected run has no flag_get column; completion is inferred from terminal x_pos and high reward.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A44292-B859-4AEB-8BBE-068251C79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752600"/>
            <a:ext cx="8001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3D4EA8-7C0B-4292-9972-B4904859D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828800"/>
            <a:ext cx="609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ep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EAED1C-400C-45A7-A520-B4902F31D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009775"/>
            <a:ext cx="60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5CA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5CA8"/>
                </a:solidFill>
                <a:latin typeface="Arial"/>
                <a:ea typeface="Arial"/>
                <a:cs typeface="Arial"/>
              </a:rPr>
              <a:t>7480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EDBC81-F9C4-4C8C-820A-7B8F31B65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247900"/>
            <a:ext cx="6096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training episodes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E6FEB4-CFA3-45E9-BDE2-4EA25756D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752600"/>
            <a:ext cx="8572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CE6F85-41C7-458D-A4ED-A98E4E738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82880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C6B1D1-F971-420B-AC75-7E4A9933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009775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5CA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5CA8"/>
                </a:solidFill>
                <a:latin typeface="Arial"/>
                <a:ea typeface="Arial"/>
                <a:cs typeface="Arial"/>
              </a:rPr>
              <a:t>3033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FAA568-C806-4E0A-80C9-F5DBB18C5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247900"/>
            <a:ext cx="6667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best training reward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BF509C-3535-4EDC-94CF-EF5FA8CBF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52600"/>
            <a:ext cx="8572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FDD3DB-F177-4D73-8B4D-8F0BDE99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82880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2E6278-3FB7-487F-9CDD-723E85529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009775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5CA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5CA8"/>
                </a:solidFill>
                <a:latin typeface="Arial"/>
                <a:ea typeface="Arial"/>
                <a:cs typeface="Arial"/>
              </a:rPr>
              <a:t>3161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4E726A-A21E-4CCF-857D-E9FDD96F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247900"/>
            <a:ext cx="6667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max x_pos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85381E-2C9C-4BD2-BF97-BA465908E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752600"/>
            <a:ext cx="10858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35FF83-38E5-4A85-B7F7-4A9B909DA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828800"/>
            <a:ext cx="8953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reward vs progress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C7DED9-F8A3-4317-A0C1-BF5D5A75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009775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5CA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5CA8"/>
                </a:solidFill>
                <a:latin typeface="Arial"/>
                <a:ea typeface="Arial"/>
                <a:cs typeface="Arial"/>
              </a:rPr>
              <a:t>不同步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A78971E-CAD6-486E-8CC2-CA121A832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247900"/>
            <a:ext cx="8953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video best &lt; train terminal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9D96AA0-F1A0-4913-B7C4-B370D4E65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419350"/>
            <a:ext cx="3800475" cy="638175"/>
          </a:xfrm>
          <a:prstGeom xmlns:a="http://schemas.openxmlformats.org/drawingml/2006/main" prst="roundRect">
            <a:avLst>
              <a:gd name="adj" fmla="val 11940"/>
            </a:avLst>
          </a:prstGeom>
          <a:solidFill xmlns:a="http://schemas.openxmlformats.org/drawingml/2006/main">
            <a:srgbClr val="F8FBFE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2D876EC-82B0-4B7A-9C32-C54F2FB47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505075"/>
            <a:ext cx="1143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通关 / 进度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C6E0D85-E9A1-4011-A304-A9A98A5E0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495550"/>
            <a:ext cx="24669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5C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5CA8"/>
                </a:solidFill>
                <a:latin typeface="Microsoft YaHei"/>
                <a:ea typeface="Microsoft YaHei"/>
                <a:cs typeface="Microsoft YaHei"/>
              </a:rPr>
              <a:t>达到 x=3161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B123596-9D47-4307-A22C-9B2576863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724150"/>
            <a:ext cx="2276475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max_x = 3161 / 3161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86062E7-E4DD-42B8-9AAC-B220E91E5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847975"/>
            <a:ext cx="3533775" cy="85725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DDE6EF"/>
          </a:solidFill>
          <a:ln xmlns:a="http://schemas.openxmlformats.org/drawingml/2006/main" w="0">
            <a:solidFill>
              <a:srgbClr val="DDE6E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FA16E7-1BC8-485E-AFAA-88C8901A6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847975"/>
            <a:ext cx="3533775" cy="85725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005CA8"/>
          </a:solidFill>
          <a:ln xmlns:a="http://schemas.openxmlformats.org/drawingml/2006/main" w="0">
            <a:solidFill>
              <a:srgbClr val="005CA8"/>
            </a:solidFill>
            <a:prstDash val="solid"/>
          </a:ln>
        </p:spPr>
      </p:sp>
      <p:graphicFrame>
        <p:nvGraphicFramePr>
          <p:cNvPr id="82" name=""/>
          <p:cNvGraphicFramePr/>
          <p:nvPr/>
        </p:nvGraphicFramePr>
        <p:xfrm>
          <a:off xmlns:a="http://schemas.openxmlformats.org/drawingml/2006/main" x="4229100" y="3152775"/>
          <a:ext xmlns:a="http://schemas.openxmlformats.org/drawingml/2006/main" cx="3800475" cy="5524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950119"/>
                <a:gridCol w="950119"/>
                <a:gridCol w="950119"/>
                <a:gridCol w="950119"/>
              </a:tblGrid>
              <a:tr h="184150"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1000000 steps</a:t>
                      </a:r>
                    </a:p>
                  </a:txBody>
                  <a:tcPr marL="91440" marR="91440" marT="45720" marB="45720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mean</a:t>
                      </a:r>
                    </a:p>
                  </a:txBody>
                  <a:tcPr marL="91440" marR="91440" marT="45720" marB="45720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best</a:t>
                      </a:r>
                    </a:p>
                  </a:txBody>
                  <a:tcPr marL="91440" marR="91440" marT="45720" marB="45720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</a:t>
                      </a:r>
                    </a:p>
                  </a:txBody>
                  <a:tcPr marL="91440" marR="91440" marT="45720" marB="45720">
                    <a:solidFill>
                      <a:srgbClr val="E8EEF5"/>
                    </a:solidFill>
                  </a:tcPr>
                </a:tc>
              </a:tr>
              <a:tr h="184150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val max_x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1237.2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2008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3161</a:t>
                      </a:r>
                    </a:p>
                  </a:txBody>
                  <a:tcPr marL="91440" marR="91440" marT="45720" marB="45720"/>
                </a:tc>
              </a:tr>
              <a:tr h="184150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test max_x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785.0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1442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3161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7E499F4-C356-4A90-B0AB-109136B59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095750"/>
            <a:ext cx="3581400" cy="2038350"/>
          </a:xfrm>
          <a:prstGeom xmlns:a="http://schemas.openxmlformats.org/drawingml/2006/main" prst="roundRect">
            <a:avLst>
              <a:gd name="adj" fmla="val 1308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9F73D57-F57A-4815-AE77-4075CA4F2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219575"/>
            <a:ext cx="16002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5CA8"/>
          </a:solidFill>
          <a:ln xmlns:a="http://schemas.openxmlformats.org/drawingml/2006/main" w="0">
            <a:solidFill>
              <a:srgbClr val="005CA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best recorded video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485CE6A-F16E-4DB8-86FE-7B7CACE2D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76775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05CA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5CA8"/>
                </a:solidFill>
                <a:latin typeface="Arial"/>
                <a:ea typeface="Arial"/>
                <a:cs typeface="Arial"/>
              </a:rPr>
              <a:t>best video x=1435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06B7EEC-8930-4CFE-8B65-8C7C3BB86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62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202938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02938"/>
                </a:solidFill>
                <a:latin typeface="Arial"/>
                <a:ea typeface="Arial"/>
                <a:cs typeface="Arial"/>
              </a:rPr>
              <a:t>xyDeng_ppo_icm_1m_cuda_seed1_1780669071_ppo_step_800000_sample20.mp4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F540736-2900-486A-BE10-37F34ADCC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6769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录制视频未观察到完整通关；训练日志提供终点 x 证据。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BCAB212-12F0-4176-953B-309457CFC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52600"/>
            <a:ext cx="3476625" cy="4381500"/>
          </a:xfrm>
          <a:prstGeom xmlns:a="http://schemas.openxmlformats.org/drawingml/2006/main" prst="roundRect">
            <a:avLst>
              <a:gd name="adj" fmla="val 76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3128854-6B6C-4303-84BC-B22F58578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85950"/>
            <a:ext cx="238125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5CA8"/>
          </a:solidFill>
          <a:ln xmlns:a="http://schemas.openxmlformats.org/drawingml/2006/main" w="0">
            <a:solidFill>
              <a:srgbClr val="005CA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Reward–progress consistency</a:t>
            </a:r>
          </a:p>
        </p:txBody>
      </p:sp>
      <p:pic>
        <p:nvPicPr>
          <p:cNvPr id="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d40cb114664cc1"/>
          <a:stretch xmlns:a="http://schemas.openxmlformats.org/drawingml/2006/main"/>
        </p:blipFill>
        <p:spPr>
          <a:xfrm xmlns:a="http://schemas.openxmlformats.org/drawingml/2006/main">
            <a:off x="8505825" y="2332038"/>
            <a:ext cx="2886075" cy="1603375"/>
          </a:xfrm>
          <a:prstGeom xmlns:a="http://schemas.openxmlformats.org/drawingml/2006/main" prst="rect">
            <a:avLst/>
          </a:prstGeom>
        </p:spPr>
      </p:pic>
      <p:pic>
        <p:nvPicPr>
          <p:cNvPr id="9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334acf4a604a66"/>
          <a:stretch xmlns:a="http://schemas.openxmlformats.org/drawingml/2006/main"/>
        </p:blipFill>
        <p:spPr>
          <a:xfrm xmlns:a="http://schemas.openxmlformats.org/drawingml/2006/main">
            <a:off x="8505825" y="4284663"/>
            <a:ext cx="2886075" cy="1603375"/>
          </a:xfrm>
          <a:prstGeom xmlns:a="http://schemas.openxmlformats.org/drawingml/2006/main" prst="rect">
            <a:avLst/>
          </a:prstGeom>
        </p:spPr>
      </p:pic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E9713E9-E975-44CA-992C-159D81138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6229350"/>
            <a:ext cx="11258550" cy="2667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9525">
            <a:solidFill>
              <a:srgbClr val="D7E2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27FFE00-91AA-4252-B0DE-629516F4E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810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ICM has stronger mean validation progress in the selected run, but the best sampled video did not visibly complete 1-1.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093E0A6-12D3-4C67-B7F4-F9E0714BA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6572250"/>
            <a:ext cx="781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75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Evidence: final_selected_runs_1_1 plus xyDeng/videos; training completion is reported conservatively from x_pos unless flag_get is logged.</a:t>
            </a:r>
          </a:p>
        </p:txBody>
      </p:sp>
    </p:spTree>
    <p:extLst>
      <p:ext uri="{BB962C8B-B14F-4D97-AF65-F5344CB8AC3E}">
        <p14:creationId xmlns:p14="http://schemas.microsoft.com/office/powerpoint/2010/main" val="11873101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4E727FE-7D74-4F68-9AEC-6279891D4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57175"/>
            <a:ext cx="971550" cy="295275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6243B6"/>
          </a:solidFill>
          <a:ln xmlns:a="http://schemas.openxmlformats.org/drawingml/2006/main" w="0">
            <a:solidFill>
              <a:srgbClr val="6243B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方法 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E242E6-445C-406D-B8D1-58EAD8E7A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905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PPO + Disagreement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47A5A8-B290-4EFC-B455-5074FADEA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60960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方法机制、训练设置与内在奖励接入方式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EBB6F4-8267-4391-AA6D-AEC76BDD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09550"/>
            <a:ext cx="2133600" cy="504825"/>
          </a:xfrm>
          <a:prstGeom xmlns:a="http://schemas.openxmlformats.org/drawingml/2006/main" prst="roundRect">
            <a:avLst>
              <a:gd name="adj" fmla="val 18868"/>
            </a:avLst>
          </a:prstGeom>
          <a:solidFill xmlns:a="http://schemas.openxmlformats.org/drawingml/2006/main">
            <a:srgbClr val="EFF5FB"/>
          </a:solidFill>
          <a:ln xmlns:a="http://schemas.openxmlformats.org/drawingml/2006/main" w="9525">
            <a:solidFill>
              <a:srgbClr val="D7E2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Mario RL / PPO intrinsic rewards</a:t>
            </a:r>
          </a:p>
          <a:p xmlns:a="http://schemas.openxmlformats.org/drawingml/2006/main">
            <a:pPr algn="ctr">
              <a:defRPr sz="75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1M steps · seed 1 · 1-1 only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AD0681-8B5C-4D86-A6A3-A9213A7C0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76300"/>
            <a:ext cx="114109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EF"/>
          </a:solidFill>
          <a:ln xmlns:a="http://schemas.openxmlformats.org/drawingml/2006/main" w="0">
            <a:solidFill>
              <a:srgbClr val="DDE6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77BEA9-EBE9-4C89-8BDB-C0B5641B2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76325"/>
            <a:ext cx="3705225" cy="2009775"/>
          </a:xfrm>
          <a:prstGeom xmlns:a="http://schemas.openxmlformats.org/drawingml/2006/main" prst="roundRect">
            <a:avLst>
              <a:gd name="adj" fmla="val 132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190C0C-4AE5-4BF9-98C1-B82BB751D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228725"/>
            <a:ext cx="11430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6243B6"/>
          </a:solidFill>
          <a:ln xmlns:a="http://schemas.openxmlformats.org/drawingml/2006/main" w="0">
            <a:solidFill>
              <a:srgbClr val="6243B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1. 方法定位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E100F8-1433-409A-A6DD-826994DCB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47825"/>
            <a:ext cx="304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Trains an ensemble of forward models.</a:t>
            </a:r>
          </a:p>
          <a:p xmlns:a="http://schemas.openxmlformats.org/drawingml/2006/main">
            <a:pPr algn="ctr">
              <a:defRPr sz="975" b="0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Intrinsic reward is prediction variance / disagreement.</a:t>
            </a:r>
          </a:p>
          <a:p xmlns:a="http://schemas.openxmlformats.org/drawingml/2006/main">
            <a:pPr algn="ctr">
              <a:defRPr sz="975" b="0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PPO is pushed toward states with high model uncertainty.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97AE57-A422-4733-A487-5DFFFE695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3095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共同 backbone: PPO + CNN Actor-Critic；方法差异集中在 intrinsic reward module.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5BEAF6-CE1D-4930-A852-DBAB9956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1076325"/>
            <a:ext cx="3048000" cy="2009775"/>
          </a:xfrm>
          <a:prstGeom xmlns:a="http://schemas.openxmlformats.org/drawingml/2006/main" prst="roundRect">
            <a:avLst>
              <a:gd name="adj" fmla="val 132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A810DE-59BB-4937-BF57-774467F0C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228725"/>
            <a:ext cx="11430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6243B6"/>
          </a:solidFill>
          <a:ln xmlns:a="http://schemas.openxmlformats.org/drawingml/2006/main" w="0">
            <a:solidFill>
              <a:srgbClr val="6243B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2. 关键超参数</a:t>
            </a:r>
          </a:p>
        </p:txBody>
      </p:sp>
      <p:graphicFrame>
        <p:nvGraphicFramePr>
          <p:cNvPr id="60" name=""/>
          <p:cNvGraphicFramePr/>
          <p:nvPr/>
        </p:nvGraphicFramePr>
        <p:xfrm>
          <a:off xmlns:a="http://schemas.openxmlformats.org/drawingml/2006/main" x="4591050" y="1581150"/>
          <a:ext xmlns:a="http://schemas.openxmlformats.org/drawingml/2006/main" cx="2676525" cy="12954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338263"/>
                <a:gridCol w="1338263"/>
              </a:tblGrid>
              <a:tr h="215900"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</a:t>
                      </a:r>
                    </a:p>
                  </a:txBody>
                  <a:tcPr marL="91440" marR="91440" marT="45720" marB="45720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值</a:t>
                      </a:r>
                    </a:p>
                  </a:txBody>
                  <a:tcPr marL="91440" marR="91440" marT="45720" marB="45720">
                    <a:solidFill>
                      <a:srgbClr val="E8EEF5"/>
                    </a:solidFill>
                  </a:tcPr>
                </a:tc>
              </a:tr>
              <a:tr h="215900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Intrinsic type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Disagreement</a:t>
                      </a:r>
                    </a:p>
                  </a:txBody>
                  <a:tcPr marL="91440" marR="91440" marT="45720" marB="45720"/>
                </a:tc>
              </a:tr>
              <a:tr h="215900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beta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0.001</a:t>
                      </a:r>
                    </a:p>
                  </a:txBody>
                  <a:tcPr marL="91440" marR="91440" marT="45720" marB="45720"/>
                </a:tc>
              </a:tr>
              <a:tr h="215900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ensemble_size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91440" marR="91440" marT="45720" marB="45720"/>
                </a:tc>
              </a:tr>
              <a:tr h="215900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latent_dim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128</a:t>
                      </a:r>
                    </a:p>
                  </a:txBody>
                  <a:tcPr marL="91440" marR="91440" marT="45720" marB="45720"/>
                </a:tc>
              </a:tr>
              <a:tr h="215900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batch/update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32 / 1.0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42C975-4DCC-465B-BB35-5B12BC655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1076325"/>
            <a:ext cx="4038600" cy="2009775"/>
          </a:xfrm>
          <a:prstGeom xmlns:a="http://schemas.openxmlformats.org/drawingml/2006/main" prst="roundRect">
            <a:avLst>
              <a:gd name="adj" fmla="val 132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68A3DF-16D8-42A1-8257-17D153796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228725"/>
            <a:ext cx="11430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6243B6"/>
          </a:solidFill>
          <a:ln xmlns:a="http://schemas.openxmlformats.org/drawingml/2006/main" w="0">
            <a:solidFill>
              <a:srgbClr val="6243B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3. 实验协议</a:t>
            </a:r>
          </a:p>
        </p:txBody>
      </p:sp>
      <p:graphicFrame>
        <p:nvGraphicFramePr>
          <p:cNvPr id="63" name=""/>
          <p:cNvGraphicFramePr/>
          <p:nvPr/>
        </p:nvGraphicFramePr>
        <p:xfrm>
          <a:off xmlns:a="http://schemas.openxmlformats.org/drawingml/2006/main" x="7886700" y="1581150"/>
          <a:ext xmlns:a="http://schemas.openxmlformats.org/drawingml/2006/main" cx="3638550" cy="12954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819275"/>
                <a:gridCol w="1819275"/>
              </a:tblGrid>
              <a:tr h="185057"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</a:t>
                      </a:r>
                    </a:p>
                  </a:txBody>
                  <a:tcPr marL="91440" marR="91440" marT="45720" marB="45720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值</a:t>
                      </a:r>
                    </a:p>
                  </a:txBody>
                  <a:tcPr marL="91440" marR="91440" marT="45720" marB="45720">
                    <a:solidFill>
                      <a:srgbClr val="E8EEF5"/>
                    </a:solidFill>
                  </a:tcPr>
                </a:tc>
              </a:tr>
              <a:tr h="185057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训练环境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SuperMarioBros-1-1-v0</a:t>
                      </a:r>
                    </a:p>
                  </a:txBody>
                  <a:tcPr marL="91440" marR="91440" marT="45720" marB="45720"/>
                </a:tc>
              </a:tr>
              <a:tr h="185057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4-frame stack, 84x84</a:t>
                      </a:r>
                    </a:p>
                  </a:txBody>
                  <a:tcPr marL="91440" marR="91440" marT="45720" marB="45720"/>
                </a:tc>
              </a:tr>
              <a:tr h="185057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动作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SIMPLE_MOVEMENT, 7 actions</a:t>
                      </a:r>
                    </a:p>
                  </a:txBody>
                  <a:tcPr marL="91440" marR="91440" marT="45720" marB="45720"/>
                </a:tc>
              </a:tr>
              <a:tr h="185057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训练步数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1,000,000 timesteps</a:t>
                      </a:r>
                    </a:p>
                  </a:txBody>
                  <a:tcPr marL="91440" marR="91440" marT="45720" marB="45720"/>
                </a:tc>
              </a:tr>
              <a:tr h="185057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评估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sample / greedy; best by sample validation</a:t>
                      </a:r>
                    </a:p>
                  </a:txBody>
                  <a:tcPr marL="91440" marR="91440" marT="45720" marB="45720"/>
                </a:tc>
              </a:tr>
              <a:tr h="185057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seed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67AABD-CFB9-4D4B-8EF8-59EB072EE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276600"/>
            <a:ext cx="4981575" cy="2428875"/>
          </a:xfrm>
          <a:prstGeom xmlns:a="http://schemas.openxmlformats.org/drawingml/2006/main" prst="roundRect">
            <a:avLst>
              <a:gd name="adj" fmla="val 109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FE3088-7628-422D-8C2E-12FFA06D8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243B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243B6"/>
                </a:solidFill>
                <a:latin typeface="Microsoft YaHei"/>
                <a:ea typeface="Microsoft YaHei"/>
                <a:cs typeface="Microsoft YaHei"/>
              </a:rPr>
              <a:t>训练数据流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11D5CB-41EA-4E4C-874E-D621A1B6A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810000"/>
            <a:ext cx="123825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E7F1FB"/>
          </a:solidFill>
          <a:ln xmlns:a="http://schemas.openxmlformats.org/drawingml/2006/main" w="9525">
            <a:solidFill>
              <a:srgbClr val="CAD8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Observation</a:t>
            </a:r>
          </a:p>
          <a:p xmlns:a="http://schemas.openxmlformats.org/drawingml/2006/main">
            <a:pPr algn="ctr">
              <a:def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4×84×84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59A805-0B29-45F0-B918-C4B4AA0DF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810000"/>
            <a:ext cx="1304925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E7F1FB"/>
          </a:solidFill>
          <a:ln xmlns:a="http://schemas.openxmlformats.org/drawingml/2006/main" w="9525">
            <a:solidFill>
              <a:srgbClr val="CAD8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CNN</a:t>
            </a:r>
          </a:p>
          <a:p xmlns:a="http://schemas.openxmlformats.org/drawingml/2006/main">
            <a:pPr algn="ctr">
              <a:def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Actor-Critic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28BCC1-B922-42DB-97CB-78235178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810000"/>
            <a:ext cx="1381125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E7F1FB"/>
          </a:solidFill>
          <a:ln xmlns:a="http://schemas.openxmlformats.org/drawingml/2006/main" w="9525">
            <a:solidFill>
              <a:srgbClr val="CAD8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Policy / Value</a:t>
            </a:r>
          </a:p>
          <a:p xmlns:a="http://schemas.openxmlformats.org/drawingml/2006/main">
            <a:pPr algn="ctr">
              <a:def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PPO update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EAED33-4207-4A37-98CD-C389BFD8D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695825"/>
            <a:ext cx="1304925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EFFCF7"/>
          </a:solidFill>
          <a:ln xmlns:a="http://schemas.openxmlformats.org/drawingml/2006/main" w="9525">
            <a:solidFill>
              <a:srgbClr val="CAD8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Disagreement</a:t>
            </a:r>
          </a:p>
          <a:p xmlns:a="http://schemas.openxmlformats.org/drawingml/2006/main">
            <a:pPr algn="ctr">
              <a:def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intrinsic module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9B3839-4982-4603-BF3D-D14A883AF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695825"/>
            <a:ext cx="1381125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FFF7EB"/>
          </a:solidFill>
          <a:ln xmlns:a="http://schemas.openxmlformats.org/drawingml/2006/main" w="9525">
            <a:solidFill>
              <a:srgbClr val="CAD8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r_total = r_ext</a:t>
            </a:r>
          </a:p>
          <a:p xmlns:a="http://schemas.openxmlformats.org/drawingml/2006/main">
            <a:pPr algn="ctr">
              <a:def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+ β·r_int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904C8D-59D0-4054-9461-E25173730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057650"/>
            <a:ext cx="2762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7D8FA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6957BD-6678-4B29-8173-FA5F10B16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057650"/>
            <a:ext cx="2952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7D8FA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9A31309-B7C7-438A-85AD-E1361D69B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314825"/>
            <a:ext cx="0" cy="381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7D8FA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223C10-7506-4627-B7C1-AC7A35628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514850"/>
            <a:ext cx="276225" cy="4095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7D8FA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C62E00-CFE8-46F3-87AE-4BD2B22E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943475"/>
            <a:ext cx="2952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7D8FA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D6665E-3B69-4EE8-8A37-736A62C1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276600"/>
            <a:ext cx="6057900" cy="2428875"/>
          </a:xfrm>
          <a:prstGeom xmlns:a="http://schemas.openxmlformats.org/drawingml/2006/main" prst="roundRect">
            <a:avLst>
              <a:gd name="adj" fmla="val 109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E7CE993-F525-4550-A6A2-C0FF422C6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429000"/>
            <a:ext cx="11430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6243B6"/>
          </a:solidFill>
          <a:ln xmlns:a="http://schemas.openxmlformats.org/drawingml/2006/main" w="0">
            <a:solidFill>
              <a:srgbClr val="6243B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4. 训练观测</a:t>
            </a:r>
          </a:p>
        </p:txBody>
      </p:sp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322813a1314c00"/>
          <a:stretch xmlns:a="http://schemas.openxmlformats.org/drawingml/2006/main"/>
        </p:blipFill>
        <p:spPr>
          <a:xfrm xmlns:a="http://schemas.openxmlformats.org/drawingml/2006/main">
            <a:off x="6598920" y="3876675"/>
            <a:ext cx="2023110" cy="1123950"/>
          </a:xfrm>
          <a:prstGeom xmlns:a="http://schemas.openxmlformats.org/drawingml/2006/main" prst="rect">
            <a:avLst/>
          </a:prstGeom>
        </p:spPr>
      </p:pic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771aec34b848ed"/>
          <a:stretch xmlns:a="http://schemas.openxmlformats.org/drawingml/2006/main"/>
        </p:blipFill>
        <p:spPr>
          <a:xfrm xmlns:a="http://schemas.openxmlformats.org/drawingml/2006/main">
            <a:off x="9458325" y="3892550"/>
            <a:ext cx="2000250" cy="1111250"/>
          </a:xfrm>
          <a:prstGeom xmlns:a="http://schemas.openxmlformats.org/drawingml/2006/main" prst="rect">
            <a:avLst/>
          </a:prstGeom>
        </p:spPr>
      </p:pic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2D5F9E5-1632-44F4-943F-8DA6FD7E3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191125"/>
            <a:ext cx="14859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D9F4FD6-29F7-488E-91CF-E7BF88BA5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267325"/>
            <a:ext cx="12954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validation sample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86FEDBA-EC16-4AF9-BB16-D906E3DCA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448300"/>
            <a:ext cx="1295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6243B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6243B6"/>
                </a:solidFill>
                <a:latin typeface="Arial"/>
                <a:ea typeface="Arial"/>
                <a:cs typeface="Arial"/>
              </a:rPr>
              <a:t>x=1140.8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17EA28F-B9B3-46C8-BD3E-26415C612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686425"/>
            <a:ext cx="1295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best step 950k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EB4879A-F51E-41DE-B5E2-62161FC7E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191125"/>
            <a:ext cx="14859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04238DF-66FA-4173-967A-61EA4C88F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5267325"/>
            <a:ext cx="12954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test sample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1A1E9E3-9DCC-49E3-9261-8F639D89E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5448300"/>
            <a:ext cx="1295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6243B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6243B6"/>
                </a:solidFill>
                <a:latin typeface="Arial"/>
                <a:ea typeface="Arial"/>
                <a:cs typeface="Arial"/>
              </a:rPr>
              <a:t>x=784.6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422D9F9-CC7E-41D7-9A35-0C7CEE429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5686425"/>
            <a:ext cx="1295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5-episode sample mean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57B3C44-2168-4B77-B75E-764866C3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191125"/>
            <a:ext cx="15811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157E9D3-C31B-4CBC-BF18-B5E0A90EB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267325"/>
            <a:ext cx="13906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train terminal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1766A55-8F76-40F7-A841-9E77303B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44830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6243B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6243B6"/>
                </a:solidFill>
                <a:latin typeface="Arial"/>
                <a:ea typeface="Arial"/>
                <a:cs typeface="Arial"/>
              </a:rPr>
              <a:t>x=3161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54EF7FB-5903-46D3-87C8-0048E482F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686425"/>
            <a:ext cx="13906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1 inferred terminal episode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0A176C9-BB00-42F3-9226-594B45608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5191125"/>
            <a:ext cx="8572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6823BB9-9DB4-4247-9F5E-29A874FCD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267325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device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11090DD-73B2-466B-A1DF-91920EB35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44830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243B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243B6"/>
                </a:solidFill>
                <a:latin typeface="Arial"/>
                <a:ea typeface="Arial"/>
                <a:cs typeface="Arial"/>
              </a:rPr>
              <a:t>CPU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09E03EF-3732-4B98-A84E-E486F6FC2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686425"/>
            <a:ext cx="6667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12.01 sec / 1k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D1FBD31-56D2-4208-ADEA-E8F5FF6BF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6572250"/>
            <a:ext cx="781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75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Evidence: xyDeng 1M selected 1-1 runs; metrics from best_summary.json, one_million_run_metrics.csv, and training_completion_audit.md.</a:t>
            </a:r>
          </a:p>
        </p:txBody>
      </p:sp>
    </p:spTree>
    <p:extLst>
      <p:ext uri="{BB962C8B-B14F-4D97-AF65-F5344CB8AC3E}">
        <p14:creationId xmlns:p14="http://schemas.microsoft.com/office/powerpoint/2010/main" val="131602103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AE3896D-4916-4569-86A1-2D7ACC38D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57175"/>
            <a:ext cx="971550" cy="295275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6243B6"/>
          </a:solidFill>
          <a:ln xmlns:a="http://schemas.openxmlformats.org/drawingml/2006/main" w="0">
            <a:solidFill>
              <a:srgbClr val="6243B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方法 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8CD84D-3E53-422A-941A-CB1BD730F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905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PPO + Disagreement: 1-1 sample outcomes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AA62D8-E594-407C-BEAA-E6BA1B220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60960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通关/进度、total_reward 与 max_x_pos 观察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3BF09A-F4D9-48D2-941E-894CB8AF4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09550"/>
            <a:ext cx="2133600" cy="504825"/>
          </a:xfrm>
          <a:prstGeom xmlns:a="http://schemas.openxmlformats.org/drawingml/2006/main" prst="roundRect">
            <a:avLst>
              <a:gd name="adj" fmla="val 18868"/>
            </a:avLst>
          </a:prstGeom>
          <a:solidFill xmlns:a="http://schemas.openxmlformats.org/drawingml/2006/main">
            <a:srgbClr val="EFF5FB"/>
          </a:solidFill>
          <a:ln xmlns:a="http://schemas.openxmlformats.org/drawingml/2006/main" w="9525">
            <a:solidFill>
              <a:srgbClr val="D7E2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Mario RL / PPO intrinsic rewards</a:t>
            </a:r>
          </a:p>
          <a:p xmlns:a="http://schemas.openxmlformats.org/drawingml/2006/main">
            <a:pPr algn="ctr">
              <a:defRPr sz="75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1M steps · seed 1 · 1-1 only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46778A-5FCB-48CC-B1CF-66D2566A8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76300"/>
            <a:ext cx="114109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EF"/>
          </a:solidFill>
          <a:ln xmlns:a="http://schemas.openxmlformats.org/drawingml/2006/main" w="0">
            <a:solidFill>
              <a:srgbClr val="DDE6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1CEB72-9695-43D8-AFA9-BB9C112F8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28700"/>
            <a:ext cx="11249025" cy="542925"/>
          </a:xfrm>
          <a:prstGeom xmlns:a="http://schemas.openxmlformats.org/drawingml/2006/main" prst="roundRect">
            <a:avLst>
              <a:gd name="adj" fmla="val 491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0F7C8C-90D1-47F2-92B8-B94541C9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00150"/>
            <a:ext cx="685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243B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243B6"/>
                </a:solidFill>
                <a:latin typeface="Microsoft YaHei"/>
                <a:ea typeface="Microsoft YaHei"/>
                <a:cs typeface="Microsoft YaHei"/>
              </a:rPr>
              <a:t>评估口径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48F109-596C-4D92-8D4A-8CCE9732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1181100"/>
            <a:ext cx="847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训练与验证均限定 SuperMarioBros-1-1-v0；sample 模式用于 best checkpoint；视频为 sample20 / best-sample 搜索结果。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CBA9D2-4872-48A3-B639-98DD2F968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52600"/>
            <a:ext cx="3581400" cy="2038350"/>
          </a:xfrm>
          <a:prstGeom xmlns:a="http://schemas.openxmlformats.org/drawingml/2006/main" prst="roundRect">
            <a:avLst>
              <a:gd name="adj" fmla="val 1308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8A08AE-0581-450F-BEE3-A73F7C5C2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85950"/>
            <a:ext cx="173355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6243B6"/>
          </a:solidFill>
          <a:ln xmlns:a="http://schemas.openxmlformats.org/drawingml/2006/main" w="0">
            <a:solidFill>
              <a:srgbClr val="6243B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1-1 training 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DEDCD1-2595-4EC3-A566-B37AE1214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32410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243B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243B6"/>
                </a:solidFill>
                <a:latin typeface="Microsoft YaHei"/>
                <a:ea typeface="Microsoft YaHei"/>
                <a:cs typeface="Microsoft YaHei"/>
              </a:rPr>
              <a:t>1 episode reached</a:t>
            </a:r>
          </a:p>
          <a:p xmlns:a="http://schemas.openxmlformats.org/drawingml/2006/main">
            <a:pPr algn="ctr">
              <a:defRPr sz="1200" b="1">
                <a:solidFill>
                  <a:srgbClr val="6243B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243B6"/>
                </a:solidFill>
                <a:latin typeface="Microsoft YaHei"/>
                <a:ea typeface="Microsoft YaHei"/>
                <a:cs typeface="Microsoft YaHei"/>
              </a:rPr>
              <a:t>max_x=3161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5EB338-1CE1-46ED-A4A6-2F857C80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09562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Original selected 1-1 run has inferred completion evidence; broader notes include later flag logging but this PPT uses selected 1-1 evidence.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A1A3F9-FE93-4870-B755-1CC73610B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752600"/>
            <a:ext cx="8001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180778-F818-45E5-B529-C4BB466C9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828800"/>
            <a:ext cx="609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ep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C99FB6-6045-4247-9A2A-8022EE036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009775"/>
            <a:ext cx="60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6243B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243B6"/>
                </a:solidFill>
                <a:latin typeface="Arial"/>
                <a:ea typeface="Arial"/>
                <a:cs typeface="Arial"/>
              </a:rPr>
              <a:t>7994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3BADA4-7111-4F3F-87A5-FCADA32D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247900"/>
            <a:ext cx="6096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training episodes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A67F7B-4D79-4021-804A-80E08E53B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752600"/>
            <a:ext cx="8572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6553EC-22F6-44E4-AAF5-0F68A8627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82880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923970-6A7A-4889-8F1B-3C75D39BE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009775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243B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243B6"/>
                </a:solidFill>
                <a:latin typeface="Arial"/>
                <a:ea typeface="Arial"/>
                <a:cs typeface="Arial"/>
              </a:rPr>
              <a:t>3020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6237CD-01B8-4F97-B66E-CDBF494FD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247900"/>
            <a:ext cx="6667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best training reward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84CE40-3F5C-4702-8577-FC5EC2210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52600"/>
            <a:ext cx="8572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81A6FB-57B4-400E-8AA6-2D95CC024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82880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011550-786C-4ECE-95DC-9D3970BD3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009775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243B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243B6"/>
                </a:solidFill>
                <a:latin typeface="Arial"/>
                <a:ea typeface="Arial"/>
                <a:cs typeface="Arial"/>
              </a:rPr>
              <a:t>3161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2661C9-AC12-4441-9780-4608406BC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247900"/>
            <a:ext cx="6667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max x_pos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276B9C-8B9D-4D10-A894-2CA296C59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752600"/>
            <a:ext cx="10858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2BC17A-5173-4A77-BCE7-E11086D88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828800"/>
            <a:ext cx="8953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reward vs progress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09A9BF-4E5E-4CBE-AC58-0CBC8D8EC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009775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6243B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6243B6"/>
                </a:solidFill>
                <a:latin typeface="Arial"/>
                <a:ea typeface="Arial"/>
                <a:cs typeface="Arial"/>
              </a:rPr>
              <a:t>不同步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967C4B-1492-4A4F-B479-08C3B9A55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247900"/>
            <a:ext cx="8953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best video from last.pt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FDD8010-7138-46C6-8855-626E61662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419350"/>
            <a:ext cx="3800475" cy="638175"/>
          </a:xfrm>
          <a:prstGeom xmlns:a="http://schemas.openxmlformats.org/drawingml/2006/main" prst="roundRect">
            <a:avLst>
              <a:gd name="adj" fmla="val 11940"/>
            </a:avLst>
          </a:prstGeom>
          <a:solidFill xmlns:a="http://schemas.openxmlformats.org/drawingml/2006/main">
            <a:srgbClr val="F8FBFE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F8D40E-8ADE-4864-9547-ABCE145B7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505075"/>
            <a:ext cx="1143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通关 / 进度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1A65807-59B2-4A9B-89DF-25C200B3D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495550"/>
            <a:ext cx="24669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243B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243B6"/>
                </a:solidFill>
                <a:latin typeface="Microsoft YaHei"/>
                <a:ea typeface="Microsoft YaHei"/>
                <a:cs typeface="Microsoft YaHei"/>
              </a:rPr>
              <a:t>达到 x=3161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3F5207-43F9-4F91-9DF3-FE7661D76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724150"/>
            <a:ext cx="2276475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max_x = 3161 / 3161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C29471B-B1F5-4C86-9CC9-F93D91287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847975"/>
            <a:ext cx="3533775" cy="85725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DDE6EF"/>
          </a:solidFill>
          <a:ln xmlns:a="http://schemas.openxmlformats.org/drawingml/2006/main" w="0">
            <a:solidFill>
              <a:srgbClr val="DDE6E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D10E6F4-13C7-4243-B242-16909C0BC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847975"/>
            <a:ext cx="3533775" cy="85725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6243B6"/>
          </a:solidFill>
          <a:ln xmlns:a="http://schemas.openxmlformats.org/drawingml/2006/main" w="0">
            <a:solidFill>
              <a:srgbClr val="6243B6"/>
            </a:solidFill>
            <a:prstDash val="solid"/>
          </a:ln>
        </p:spPr>
      </p:sp>
      <p:graphicFrame>
        <p:nvGraphicFramePr>
          <p:cNvPr id="82" name=""/>
          <p:cNvGraphicFramePr/>
          <p:nvPr/>
        </p:nvGraphicFramePr>
        <p:xfrm>
          <a:off xmlns:a="http://schemas.openxmlformats.org/drawingml/2006/main" x="4229100" y="3152775"/>
          <a:ext xmlns:a="http://schemas.openxmlformats.org/drawingml/2006/main" cx="3800475" cy="5524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950119"/>
                <a:gridCol w="950119"/>
                <a:gridCol w="950119"/>
                <a:gridCol w="950119"/>
              </a:tblGrid>
              <a:tr h="184150"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1000000 steps</a:t>
                      </a:r>
                    </a:p>
                  </a:txBody>
                  <a:tcPr marL="91440" marR="91440" marT="45720" marB="45720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mean</a:t>
                      </a:r>
                    </a:p>
                  </a:txBody>
                  <a:tcPr marL="91440" marR="91440" marT="45720" marB="45720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best</a:t>
                      </a:r>
                    </a:p>
                  </a:txBody>
                  <a:tcPr marL="91440" marR="91440" marT="45720" marB="45720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</a:t>
                      </a:r>
                    </a:p>
                  </a:txBody>
                  <a:tcPr marL="91440" marR="91440" marT="45720" marB="45720">
                    <a:solidFill>
                      <a:srgbClr val="E8EEF5"/>
                    </a:solidFill>
                  </a:tcPr>
                </a:tc>
              </a:tr>
              <a:tr h="184150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val max_x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1140.8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2021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3161</a:t>
                      </a:r>
                    </a:p>
                  </a:txBody>
                  <a:tcPr marL="91440" marR="91440" marT="45720" marB="45720"/>
                </a:tc>
              </a:tr>
              <a:tr h="184150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test max_x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784.6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1634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3161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E1DB3AF-62EA-4CA4-88FC-D45232113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095750"/>
            <a:ext cx="3581400" cy="2038350"/>
          </a:xfrm>
          <a:prstGeom xmlns:a="http://schemas.openxmlformats.org/drawingml/2006/main" prst="roundRect">
            <a:avLst>
              <a:gd name="adj" fmla="val 1308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2BB7E65-4AC6-425E-92F7-53B926BBA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219575"/>
            <a:ext cx="16002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6243B6"/>
          </a:solidFill>
          <a:ln xmlns:a="http://schemas.openxmlformats.org/drawingml/2006/main" w="0">
            <a:solidFill>
              <a:srgbClr val="6243B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best recorded video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77D6723-18AB-4238-B506-382C23D44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76775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6243B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6243B6"/>
                </a:solidFill>
                <a:latin typeface="Arial"/>
                <a:ea typeface="Arial"/>
                <a:cs typeface="Arial"/>
              </a:rPr>
              <a:t>best video x=2009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51D518E-B2BD-4747-BD63-0084EAE72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62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202938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02938"/>
                </a:solidFill>
                <a:latin typeface="Arial"/>
                <a:ea typeface="Arial"/>
                <a:cs typeface="Arial"/>
              </a:rPr>
              <a:t>xyDeng_ppo_disagreement_1m_cpu_seed1_1780679739_last_sample20.mp4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3A2CB90-3A58-498A-BAD7-1DC7D1ADE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6769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录制视频未观察到完整通关；训练日志提供终点 x 证据。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701F80E-9FC9-4554-95F3-4A6625417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52600"/>
            <a:ext cx="3476625" cy="4381500"/>
          </a:xfrm>
          <a:prstGeom xmlns:a="http://schemas.openxmlformats.org/drawingml/2006/main" prst="roundRect">
            <a:avLst>
              <a:gd name="adj" fmla="val 76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1484D80-A005-44A5-A8BB-997FC33E0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85950"/>
            <a:ext cx="238125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6243B6"/>
          </a:solidFill>
          <a:ln xmlns:a="http://schemas.openxmlformats.org/drawingml/2006/main" w="0">
            <a:solidFill>
              <a:srgbClr val="6243B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Reward–progress consistency</a:t>
            </a:r>
          </a:p>
        </p:txBody>
      </p:sp>
      <p:pic>
        <p:nvPicPr>
          <p:cNvPr id="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ba15dc55124a5f"/>
          <a:stretch xmlns:a="http://schemas.openxmlformats.org/drawingml/2006/main"/>
        </p:blipFill>
        <p:spPr>
          <a:xfrm xmlns:a="http://schemas.openxmlformats.org/drawingml/2006/main">
            <a:off x="8505825" y="2332038"/>
            <a:ext cx="2886075" cy="1603375"/>
          </a:xfrm>
          <a:prstGeom xmlns:a="http://schemas.openxmlformats.org/drawingml/2006/main" prst="rect">
            <a:avLst/>
          </a:prstGeom>
        </p:spPr>
      </p:pic>
      <p:pic>
        <p:nvPicPr>
          <p:cNvPr id="9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30a256f12143bd"/>
          <a:stretch xmlns:a="http://schemas.openxmlformats.org/drawingml/2006/main"/>
        </p:blipFill>
        <p:spPr>
          <a:xfrm xmlns:a="http://schemas.openxmlformats.org/drawingml/2006/main">
            <a:off x="8505825" y="4284663"/>
            <a:ext cx="2886075" cy="1603375"/>
          </a:xfrm>
          <a:prstGeom xmlns:a="http://schemas.openxmlformats.org/drawingml/2006/main" prst="rect">
            <a:avLst/>
          </a:prstGeom>
        </p:spPr>
      </p:pic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DDA7AAF-5894-4871-8AD0-056ABBDA1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6229350"/>
            <a:ext cx="11258550" cy="2667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9525">
            <a:solidFill>
              <a:srgbClr val="D7E2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42A431E-5021-4AD1-B955-B0464E51B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810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Disagreement produced the strongest recorded sample rollout, reaching x=2009 in the saved videos.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772BE13-6733-4241-9D38-58608E05C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6572250"/>
            <a:ext cx="781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75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Evidence: final_selected_runs_1_1 plus xyDeng/videos; training completion is reported conservatively from x_pos unless flag_get is logged.</a:t>
            </a:r>
          </a:p>
        </p:txBody>
      </p:sp>
    </p:spTree>
    <p:extLst>
      <p:ext uri="{BB962C8B-B14F-4D97-AF65-F5344CB8AC3E}">
        <p14:creationId xmlns:p14="http://schemas.microsoft.com/office/powerpoint/2010/main" val="19506606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167754-6C42-4E3F-8BDC-B233CE073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57175"/>
            <a:ext cx="971550" cy="295275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对比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62824C-951E-4E0D-82A6-030D32E40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905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ICM vs Disagreement: 1-1 results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BAAA95-7097-4F13-A60E-690CE6392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60960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同一 PPO backbone、同一 1M steps、同一 SuperMarioBros-1-1-v0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5F6540-1797-48E6-A9FE-A308333E8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09550"/>
            <a:ext cx="2133600" cy="504825"/>
          </a:xfrm>
          <a:prstGeom xmlns:a="http://schemas.openxmlformats.org/drawingml/2006/main" prst="roundRect">
            <a:avLst>
              <a:gd name="adj" fmla="val 18868"/>
            </a:avLst>
          </a:prstGeom>
          <a:solidFill xmlns:a="http://schemas.openxmlformats.org/drawingml/2006/main">
            <a:srgbClr val="EFF5FB"/>
          </a:solidFill>
          <a:ln xmlns:a="http://schemas.openxmlformats.org/drawingml/2006/main" w="9525">
            <a:solidFill>
              <a:srgbClr val="D7E2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Mario RL / PPO intrinsic rewards</a:t>
            </a:r>
          </a:p>
          <a:p xmlns:a="http://schemas.openxmlformats.org/drawingml/2006/main">
            <a:pPr algn="ctr">
              <a:defRPr sz="75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1M steps · seed 1 · 1-1 only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76CC4C-A575-41E6-8239-BD36807DD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76300"/>
            <a:ext cx="114109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EF"/>
          </a:solidFill>
          <a:ln xmlns:a="http://schemas.openxmlformats.org/drawingml/2006/main" w="0">
            <a:solidFill>
              <a:srgbClr val="DDE6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A30AFF-547C-4C68-9C96-1A3D6DE22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76325"/>
            <a:ext cx="3657600" cy="4953000"/>
          </a:xfrm>
          <a:prstGeom xmlns:a="http://schemas.openxmlformats.org/drawingml/2006/main" prst="roundRect">
            <a:avLst>
              <a:gd name="adj" fmla="val 72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B2EA33-33E2-46C6-A959-1A2BE9A23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228725"/>
            <a:ext cx="9525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核心指标</a:t>
            </a:r>
          </a:p>
        </p:txBody>
      </p:sp>
      <p:graphicFrame>
        <p:nvGraphicFramePr>
          <p:cNvPr id="32" name=""/>
          <p:cNvGraphicFramePr/>
          <p:nvPr/>
        </p:nvGraphicFramePr>
        <p:xfrm>
          <a:off xmlns:a="http://schemas.openxmlformats.org/drawingml/2006/main" x="685800" y="1657350"/>
          <a:ext xmlns:a="http://schemas.openxmlformats.org/drawingml/2006/main" cx="3219450" cy="27241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073150"/>
                <a:gridCol w="1073150"/>
                <a:gridCol w="1073150"/>
              </a:tblGrid>
              <a:tr h="340519"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Metric</a:t>
                      </a:r>
                    </a:p>
                  </a:txBody>
                  <a:tcPr marL="91440" marR="91440" marT="45720" marB="45720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PPO+ICM</a:t>
                      </a:r>
                    </a:p>
                  </a:txBody>
                  <a:tcPr marL="91440" marR="91440" marT="45720" marB="45720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PPO+Disagreement</a:t>
                      </a:r>
                    </a:p>
                  </a:txBody>
                  <a:tcPr marL="91440" marR="91440" marT="45720" marB="45720">
                    <a:solidFill>
                      <a:srgbClr val="E8EEF5"/>
                    </a:solidFill>
                  </a:tcPr>
                </a:tc>
              </a:tr>
              <a:tr h="340519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Device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CUDA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CPU</a:t>
                      </a:r>
                    </a:p>
                  </a:txBody>
                  <a:tcPr marL="91440" marR="91440" marT="45720" marB="45720"/>
                </a:tc>
              </a:tr>
              <a:tr h="340519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Episodes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7480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7994</a:t>
                      </a:r>
                    </a:p>
                  </a:txBody>
                  <a:tcPr marL="91440" marR="91440" marT="45720" marB="45720"/>
                </a:tc>
              </a:tr>
              <a:tr h="340519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Best step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900k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950k</a:t>
                      </a:r>
                    </a:p>
                  </a:txBody>
                  <a:tcPr marL="91440" marR="91440" marT="45720" marB="45720"/>
                </a:tc>
              </a:tr>
              <a:tr h="340519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Val mean max_x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1237.2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1140.8</a:t>
                      </a:r>
                    </a:p>
                  </a:txBody>
                  <a:tcPr marL="91440" marR="91440" marT="45720" marB="45720"/>
                </a:tc>
              </a:tr>
              <a:tr h="340519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Test mean max_x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785.0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784.6</a:t>
                      </a:r>
                    </a:p>
                  </a:txBody>
                  <a:tcPr marL="91440" marR="91440" marT="45720" marB="45720"/>
                </a:tc>
              </a:tr>
              <a:tr h="340519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Train max_x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3161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3161</a:t>
                      </a:r>
                    </a:p>
                  </a:txBody>
                  <a:tcPr marL="91440" marR="91440" marT="45720" marB="45720"/>
                </a:tc>
              </a:tr>
              <a:tr h="340519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Best video max_x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1435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2009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0C3D95-8B66-4C1B-B9E1-6064001AB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48200"/>
            <a:ext cx="30099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结论：ICM 的 validation mean max_x 略高；Disagreement 的 best recorded rollout 更远。两者训练中均到达 terminal x=3161。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A0A35A-50FA-4AB5-BAF3-C42CE70A1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1076325"/>
            <a:ext cx="7334250" cy="2381250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F1DE61-1D83-4FEC-8B45-B5934E5FC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228725"/>
            <a:ext cx="9525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曲线证据</a:t>
            </a:r>
          </a:p>
        </p:txBody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7bed9ce916481d"/>
          <a:stretch xmlns:a="http://schemas.openxmlformats.org/drawingml/2006/main"/>
        </p:blipFill>
        <p:spPr>
          <a:xfrm xmlns:a="http://schemas.openxmlformats.org/drawingml/2006/main">
            <a:off x="4872990" y="1609725"/>
            <a:ext cx="2846070" cy="1581150"/>
          </a:xfrm>
          <a:prstGeom xmlns:a="http://schemas.openxmlformats.org/drawingml/2006/main" prst="rect">
            <a:avLst/>
          </a:prstGeom>
        </p:spPr>
      </p:pic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f092dd62b54ee7"/>
          <a:stretch xmlns:a="http://schemas.openxmlformats.org/drawingml/2006/main"/>
        </p:blipFill>
        <p:spPr>
          <a:xfrm xmlns:a="http://schemas.openxmlformats.org/drawingml/2006/main">
            <a:off x="8378190" y="1609725"/>
            <a:ext cx="2846070" cy="15811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BF116D-6065-44B3-8349-3100B6A0D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648075"/>
            <a:ext cx="3524250" cy="2381250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8DEC53-37D8-43D5-8547-063CB38A5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800475"/>
            <a:ext cx="9525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训练速度</a:t>
            </a:r>
          </a:p>
        </p:txBody>
      </p:sp>
      <p:graphicFrame>
        <p:nvGraphicFramePr>
          <p:cNvPr id="40" name=""/>
          <p:cNvGraphicFramePr/>
          <p:nvPr/>
        </p:nvGraphicFramePr>
        <p:xfrm>
          <a:off xmlns:a="http://schemas.openxmlformats.org/drawingml/2006/main" x="4629150" y="4219575"/>
          <a:ext xmlns:a="http://schemas.openxmlformats.org/drawingml/2006/main" cx="3067050" cy="8763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766763"/>
                <a:gridCol w="766763"/>
                <a:gridCol w="766763"/>
                <a:gridCol w="766763"/>
              </a:tblGrid>
              <a:tr h="292100"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Method</a:t>
                      </a:r>
                    </a:p>
                  </a:txBody>
                  <a:tcPr marL="91440" marR="91440" marT="45720" marB="45720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CPU sec/1k</a:t>
                      </a:r>
                    </a:p>
                  </a:txBody>
                  <a:tcPr marL="91440" marR="91440" marT="45720" marB="45720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CUDA sec/1k</a:t>
                      </a:r>
                    </a:p>
                  </a:txBody>
                  <a:tcPr marL="91440" marR="91440" marT="45720" marB="45720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Used</a:t>
                      </a:r>
                    </a:p>
                  </a:txBody>
                  <a:tcPr marL="91440" marR="91440" marT="45720" marB="45720">
                    <a:solidFill>
                      <a:srgbClr val="E8EEF5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ICM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11.88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8.54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CUDA</a:t>
                      </a:r>
                    </a:p>
                  </a:txBody>
                  <a:tcPr marL="91440" marR="91440" marT="45720" marB="45720"/>
                </a:tc>
              </a:tr>
              <a:tr h="292100"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Disagreement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12.01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13.43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>
                          <a:solidFill>
                            <a:srgbClr val="202938"/>
                          </a:solidFill>
                          <a:latin typeface="Arial"/>
                          <a:ea typeface="Arial"/>
                          <a:cs typeface="Arial"/>
                        </a:rPr>
                        <a:t>CPU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D77496-8ECF-46AA-9EC6-D0C4A0B9A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5286375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设备选择来自 10k-step benchmark：ICM 在 CUDA 更快，Disagreement 在 CPU 更快。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4D7770-2D44-45B5-80BF-B9BB949BC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648075"/>
            <a:ext cx="3533775" cy="2381250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4AEC71-BD26-4A94-A952-A745A8F5D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800475"/>
            <a:ext cx="10668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公正比较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10E2CC-A0C8-4AB9-A49E-C5EB69AC7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6720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5C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05CA8"/>
                </a:solidFill>
                <a:latin typeface="Microsoft YaHei"/>
                <a:ea typeface="Microsoft YaHei"/>
                <a:cs typeface="Microsoft YaHei"/>
              </a:rPr>
              <a:t>ICM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EFE977-1EBF-41BC-ACE4-9350068C4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Forward model prediction error gives dense curiosity; in this run it produced slightly stronger validation progress.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2697F4-C420-452D-B7D9-008E2DFAB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1054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243B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6243B6"/>
                </a:solidFill>
                <a:latin typeface="Microsoft YaHei"/>
                <a:ea typeface="Microsoft YaHei"/>
                <a:cs typeface="Microsoft YaHei"/>
              </a:rPr>
              <a:t>Disagreement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711598-27E0-4927-9A1C-8D3821012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721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Ensemble uncertainty encouraged longer sampled rollouts; best recorded video reached max_x=2009.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5C18E8-8D2D-4B02-9F09-CFD6BE9C5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6572250"/>
            <a:ext cx="781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75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Evidence: xyDeng/notes/run_summary.md, device_benchmark_10k.csv, one_million_run_metrics.csv, and videos under xyDeng/videos.</a:t>
            </a:r>
          </a:p>
        </p:txBody>
      </p:sp>
    </p:spTree>
    <p:extLst>
      <p:ext uri="{BB962C8B-B14F-4D97-AF65-F5344CB8AC3E}">
        <p14:creationId xmlns:p14="http://schemas.microsoft.com/office/powerpoint/2010/main" val="145440380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4FC20A-208E-4D5A-820E-82DE1532C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57175"/>
            <a:ext cx="971550" cy="295275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4C20E3-B9F3-46C7-BF0A-359974048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905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What we can claim for the report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003902-52DC-49E8-BB04-4DFFC2F01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60960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结果边界、展示素材与后续训练方向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65A624-75B0-4069-944F-E70F7DC0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09550"/>
            <a:ext cx="2133600" cy="504825"/>
          </a:xfrm>
          <a:prstGeom xmlns:a="http://schemas.openxmlformats.org/drawingml/2006/main" prst="roundRect">
            <a:avLst>
              <a:gd name="adj" fmla="val 18868"/>
            </a:avLst>
          </a:prstGeom>
          <a:solidFill xmlns:a="http://schemas.openxmlformats.org/drawingml/2006/main">
            <a:srgbClr val="EFF5FB"/>
          </a:solidFill>
          <a:ln xmlns:a="http://schemas.openxmlformats.org/drawingml/2006/main" w="9525">
            <a:solidFill>
              <a:srgbClr val="D7E2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Mario RL / PPO intrinsic rewards</a:t>
            </a:r>
          </a:p>
          <a:p xmlns:a="http://schemas.openxmlformats.org/drawingml/2006/main">
            <a:pPr algn="ctr">
              <a:defRPr sz="75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1M steps · seed 1 · 1-1 only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FD4D2C-60D7-45E0-BDD8-CE74FD739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76300"/>
            <a:ext cx="114109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EF"/>
          </a:solidFill>
          <a:ln xmlns:a="http://schemas.openxmlformats.org/drawingml/2006/main" w="0">
            <a:solidFill>
              <a:srgbClr val="DDE6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6C0A49-2ED6-40C4-A7AD-C0E2B4AB9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76325"/>
            <a:ext cx="3619500" cy="2381250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8B85D3-8A2B-46B3-A21D-68258379B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228725"/>
            <a:ext cx="11430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1. 可确认结论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B8442A-6004-4B24-8913-1D18FF29F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28765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Both methods learned useful exploration behavior on World 1-1 and reached terminal x_pos=3161 during training.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876F55-4D22-4286-AC51-8915068D2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619375"/>
            <a:ext cx="2886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PPT 中不要把 sampled video 说成通关视频；它们是展示策略行为的可视化证据。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201D11-B34C-4D3C-9764-72ECD1A41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1076325"/>
            <a:ext cx="3524250" cy="2381250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A5E3F0-9DDE-4197-884C-B254B67DB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228725"/>
            <a:ext cx="104775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2. 哪个更好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F05E58-5071-4F52-9AA1-C03001763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85925"/>
            <a:ext cx="285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If the report emphasizes mean validation progress, choose ICM. If it emphasizes best demonstrable rollout video, choose Disagreement.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0AC43B-3B17-4B53-9F41-8045F3421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695575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公正表述：两者接近，优势维度不同；单 seed 不足以做强排名。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5EE318-ECF7-474F-92D0-4785E2337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1076325"/>
            <a:ext cx="3524250" cy="2381250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CF0731-F344-447C-A3B8-EAA3B2C86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228725"/>
            <a:ext cx="1190625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3. 展示素材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0213C9-D6F5-4771-BD50-01954B8B3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1657350"/>
            <a:ext cx="28956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20293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02938"/>
                </a:solidFill>
                <a:latin typeface="Arial"/>
                <a:ea typeface="Arial"/>
                <a:cs typeface="Arial"/>
              </a:rPr>
              <a:t>Use 1-1 only:</a:t>
            </a:r>
          </a:p>
          <a:p xmlns:a="http://schemas.openxmlformats.org/drawingml/2006/main">
            <a:pPr algn="ctr">
              <a:defRPr sz="975" b="0">
                <a:solidFill>
                  <a:srgbClr val="20293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02938"/>
                </a:solidFill>
                <a:latin typeface="Arial"/>
                <a:ea typeface="Arial"/>
                <a:cs typeface="Arial"/>
              </a:rPr>
              <a:t>• xyDeng_ppo_icm_1m_cuda_best_sample.mp4</a:t>
            </a:r>
          </a:p>
          <a:p xmlns:a="http://schemas.openxmlformats.org/drawingml/2006/main">
            <a:pPr algn="ctr">
              <a:defRPr sz="975" b="0">
                <a:solidFill>
                  <a:srgbClr val="20293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02938"/>
                </a:solidFill>
                <a:latin typeface="Arial"/>
                <a:ea typeface="Arial"/>
                <a:cs typeface="Arial"/>
              </a:rPr>
              <a:t>• xyDeng_ppo_disagreement_1m_cpu_seed1_1780679739_last_sample20.mp4</a:t>
            </a:r>
          </a:p>
          <a:p xmlns:a="http://schemas.openxmlformats.org/drawingml/2006/main">
            <a:pPr algn="ctr">
              <a:defRPr sz="975" b="0">
                <a:solidFill>
                  <a:srgbClr val="20293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02938"/>
                </a:solidFill>
                <a:latin typeface="Arial"/>
                <a:ea typeface="Arial"/>
                <a:cs typeface="Arial"/>
              </a:rPr>
              <a:t>• 1m_comparison plots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551F76-7A62-4DDA-A744-3F90D983B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57600"/>
            <a:ext cx="11268075" cy="2381250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3C1D47-80F2-453E-8CDB-93AC9EF9C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810000"/>
            <a:ext cx="24765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4. 后续若要录到明确通关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B623FB-AD5B-4613-AC7C-86F6738CB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43400"/>
            <a:ext cx="2476500" cy="1190625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8FBFE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864184-E68C-412A-99DC-588112A70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43425"/>
            <a:ext cx="2133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596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59669"/>
                </a:solidFill>
                <a:latin typeface="Microsoft YaHei"/>
                <a:ea typeface="Microsoft YaHei"/>
                <a:cs typeface="Microsoft YaHei"/>
              </a:rPr>
              <a:t>Checkpoint search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F3707F-9417-4237-A722-E914BA3A1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95850"/>
            <a:ext cx="209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对 400k/800k/best/last 增加 sample episodes，保存最远且 flag_get=1 的视频。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50527D-0D75-4896-A4E7-DA6686963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343400"/>
            <a:ext cx="2476500" cy="1190625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8FBFE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4A0613-5D95-4981-948E-31C496F33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543425"/>
            <a:ext cx="2133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596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59669"/>
                </a:solidFill>
                <a:latin typeface="Microsoft YaHei"/>
                <a:ea typeface="Microsoft YaHei"/>
                <a:cs typeface="Microsoft YaHei"/>
              </a:rPr>
              <a:t>Flag logging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27AB8C-E1D9-4C65-9648-3773DD0C8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895850"/>
            <a:ext cx="209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训练与评估都记录 episode_flag_get，避免只靠 x_pos 推断。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B5ADFF-B6F0-4AC6-B7C6-1CA69C642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343400"/>
            <a:ext cx="2476500" cy="1190625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8FBFE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2AE806-F22F-4AB6-AF07-CF29AFF1C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43425"/>
            <a:ext cx="2133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596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59669"/>
                </a:solidFill>
                <a:latin typeface="Microsoft YaHei"/>
                <a:ea typeface="Microsoft YaHei"/>
                <a:cs typeface="Microsoft YaHei"/>
              </a:rPr>
              <a:t>More seeds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4EFDA4-32ED-4560-9BCE-ECEC60567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895850"/>
            <a:ext cx="209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至少 3 seeds 比较均值和方差，避免单次运行偶然性。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68F8367-7DD8-4F99-A81E-13F928B0B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343400"/>
            <a:ext cx="2476500" cy="1190625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8FBFE"/>
          </a:solidFill>
          <a:ln xmlns:a="http://schemas.openxmlformats.org/drawingml/2006/main" w="9525">
            <a:solidFill>
              <a:srgbClr val="D9E1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900D8F-D74C-40D0-9109-17B719DCA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543425"/>
            <a:ext cx="2133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596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59669"/>
                </a:solidFill>
                <a:latin typeface="Microsoft YaHei"/>
                <a:ea typeface="Microsoft YaHei"/>
                <a:cs typeface="Microsoft YaHei"/>
              </a:rPr>
              <a:t>Longer / staged run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FC1E7D5-64CE-483C-A4E4-7D17C59DC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895850"/>
            <a:ext cx="209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202938"/>
                </a:solidFill>
                <a:latin typeface="Microsoft YaHei"/>
                <a:ea typeface="Microsoft YaHei"/>
                <a:cs typeface="Microsoft YaHei"/>
              </a:rPr>
              <a:t>在 1-1 上继续训练或从较好 checkpoint resume，再用 greedy+sample 搜索通关视频。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7031008-4E47-4A6B-A069-418AEFCE8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6572250"/>
            <a:ext cx="781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75" b="0">
                <a:solidFill>
                  <a:srgbClr val="607084"/>
                </a:solidFill>
                <a:latin typeface="Microsoft YaHei"/>
                <a:ea typeface="Microsoft YaHei"/>
                <a:cs typeface="Microsoft YaHei"/>
              </a:rPr>
              <a:t>Claim boundary: current selected 1-1 videos are visual rollouts, not strict full-clear evidence; training logs provide terminal-progress evidence.</a:t>
            </a:r>
          </a:p>
        </p:txBody>
      </p:sp>
    </p:spTree>
    <p:extLst>
      <p:ext uri="{BB962C8B-B14F-4D97-AF65-F5344CB8AC3E}">
        <p14:creationId xmlns:p14="http://schemas.microsoft.com/office/powerpoint/2010/main" val="32428246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2026-06-15T11:27:25.3820000Z</dcterms:created>
  <dcterms:modified xsi:type="dcterms:W3CDTF">2026-06-15T11:27:25.3820000Z</dcterms:modified>
</coreProperties>
</file>