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c29f2d77b4289" /><Relationship Type="http://schemas.openxmlformats.org/officeDocument/2006/relationships/extended-properties" Target="/docProps/app.xml" Id="Rdadf3f711d6b4733" /><Relationship Type="http://schemas.openxmlformats.org/officeDocument/2006/relationships/officeDocument" Target="/ppt/presentation.xml" Id="Rc3308f0e0f13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01f539f6949b6"/>
  </p:sldMasterIdLst>
  <p:notesMasterIdLst>
    <p:notesMasterId xmlns:r="http://schemas.openxmlformats.org/officeDocument/2006/relationships" r:id="R5a89cffe5f504183"/>
  </p:notesMasterIdLst>
  <p:sldIdLst>
    <p:sldId xmlns:r="http://schemas.openxmlformats.org/officeDocument/2006/relationships" id="256" r:id="Rb58bfebfc8a74b01"/>
    <p:sldId xmlns:r="http://schemas.openxmlformats.org/officeDocument/2006/relationships" id="257" r:id="R18e1b91814dd413f"/>
    <p:sldId xmlns:r="http://schemas.openxmlformats.org/officeDocument/2006/relationships" id="258" r:id="Rce3ce7ed86924803"/>
    <p:sldId xmlns:r="http://schemas.openxmlformats.org/officeDocument/2006/relationships" id="259" r:id="Rf6afa035ee374f26"/>
    <p:sldId xmlns:r="http://schemas.openxmlformats.org/officeDocument/2006/relationships" id="260" r:id="R66095249523841cc"/>
    <p:sldId xmlns:r="http://schemas.openxmlformats.org/officeDocument/2006/relationships" id="261" r:id="R84eb2287979e4c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c810b090846f9" /><Relationship Type="http://schemas.openxmlformats.org/officeDocument/2006/relationships/slideMaster" Target="/ppt/slideMasters/slideMaster1.xml" Id="Re4c01f539f6949b6" /><Relationship Type="http://schemas.openxmlformats.org/officeDocument/2006/relationships/notesMaster" Target="/ppt/notesMasters/notesMaster1.xml" Id="R5a89cffe5f504183" /><Relationship Type="http://schemas.openxmlformats.org/officeDocument/2006/relationships/presProps" Target="/ppt/presProps.xml" Id="R5ca24b38862847e3" /><Relationship Type="http://schemas.openxmlformats.org/officeDocument/2006/relationships/tableStyles" Target="/ppt/tableStyles.xml" Id="Rdc574e5b1e5647f1" /><Relationship Type="http://schemas.openxmlformats.org/officeDocument/2006/relationships/slide" Target="/ppt/slides/slide1.xml" Id="Rb58bfebfc8a74b01" /><Relationship Type="http://schemas.openxmlformats.org/officeDocument/2006/relationships/slide" Target="/ppt/slides/slide2.xml" Id="R18e1b91814dd413f" /><Relationship Type="http://schemas.openxmlformats.org/officeDocument/2006/relationships/slide" Target="/ppt/slides/slide3.xml" Id="Rce3ce7ed86924803" /><Relationship Type="http://schemas.openxmlformats.org/officeDocument/2006/relationships/slide" Target="/ppt/slides/slide4.xml" Id="Rf6afa035ee374f26" /><Relationship Type="http://schemas.openxmlformats.org/officeDocument/2006/relationships/slide" Target="/ppt/slides/slide5.xml" Id="R66095249523841cc" /><Relationship Type="http://schemas.openxmlformats.org/officeDocument/2006/relationships/slide" Target="/ppt/slides/slide6.xml" Id="R84eb2287979e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81b823580d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5abb402ba469d" /><Relationship Type="http://schemas.openxmlformats.org/officeDocument/2006/relationships/notesMaster" Target="/ppt/notesMasters/notesMaster1.xml" Id="Ra2ed635e169c4d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e2ddde1c8d4da9" /><Relationship Type="http://schemas.openxmlformats.org/officeDocument/2006/relationships/notesMaster" Target="/ppt/notesMasters/notesMaster1.xml" Id="R0fbab4d1770145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37c675f78483e" /><Relationship Type="http://schemas.openxmlformats.org/officeDocument/2006/relationships/notesMaster" Target="/ppt/notesMasters/notesMaster1.xml" Id="R16dff69231ea4c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a1aec16aa42e4" /><Relationship Type="http://schemas.openxmlformats.org/officeDocument/2006/relationships/notesMaster" Target="/ppt/notesMasters/notesMaster1.xml" Id="R94fc409e214949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45b6f99c1450f" /><Relationship Type="http://schemas.openxmlformats.org/officeDocument/2006/relationships/notesMaster" Target="/ppt/notesMasters/notesMaster1.xml" Id="R3b03f55e472b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abc05c2504fa7" /><Relationship Type="http://schemas.openxmlformats.org/officeDocument/2006/relationships/notesMaster" Target="/ppt/notesMasters/notesMaster1.xml" Id="R88599e654a2c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b515ad850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12230017f84cea" /><Relationship Type="http://schemas.openxmlformats.org/officeDocument/2006/relationships/slideLayout" Target="/ppt/slideLayouts/slideLayout1.xml" Id="R7600835ac257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0835ac257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bd12587a14542" /><Relationship Type="http://schemas.openxmlformats.org/officeDocument/2006/relationships/image" Target="/ppt/media/image.png" Id="R8fc15cbf5c12433d" /><Relationship Type="http://schemas.openxmlformats.org/officeDocument/2006/relationships/image" Target="/ppt/media/image2.png" Id="Rfc16d06ac6c243b4" /><Relationship Type="http://schemas.openxmlformats.org/officeDocument/2006/relationships/notesSlide" Target="/ppt/notesSlides/notesSlide1.xml" Id="Rfd68ee479499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a50cf382f470f" /><Relationship Type="http://schemas.openxmlformats.org/officeDocument/2006/relationships/image" Target="/ppt/media/image3.png" Id="R73c177ff76fb4f95" /><Relationship Type="http://schemas.openxmlformats.org/officeDocument/2006/relationships/image" Target="/ppt/media/image4.png" Id="R609a1e3b03ca4ca8" /><Relationship Type="http://schemas.openxmlformats.org/officeDocument/2006/relationships/notesSlide" Target="/ppt/notesSlides/notesSlide2.xml" Id="R6c0262353b19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4b4b5c0ad4ebd" /><Relationship Type="http://schemas.openxmlformats.org/officeDocument/2006/relationships/image" Target="/ppt/media/image5.png" Id="R77980323a2d54d68" /><Relationship Type="http://schemas.openxmlformats.org/officeDocument/2006/relationships/image" Target="/ppt/media/image6.png" Id="R30697d2d1e724d94" /><Relationship Type="http://schemas.openxmlformats.org/officeDocument/2006/relationships/notesSlide" Target="/ppt/notesSlides/notesSlide3.xml" Id="R00e5a0dcb4214d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41b93c4b4097" /><Relationship Type="http://schemas.openxmlformats.org/officeDocument/2006/relationships/image" Target="/ppt/media/image7.png" Id="R2d9c6c8819a24e66" /><Relationship Type="http://schemas.openxmlformats.org/officeDocument/2006/relationships/image" Target="/ppt/media/image8.png" Id="R1c4e0bfda9df4e60" /><Relationship Type="http://schemas.openxmlformats.org/officeDocument/2006/relationships/notesSlide" Target="/ppt/notesSlides/notesSlide4.xml" Id="R0be048fd8a9e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d40058b847b5" /><Relationship Type="http://schemas.openxmlformats.org/officeDocument/2006/relationships/image" Target="/ppt/media/image9.png" Id="R290927b255e74913" /><Relationship Type="http://schemas.openxmlformats.org/officeDocument/2006/relationships/image" Target="/ppt/media/image10.png" Id="Ra076f49b61db4c81" /><Relationship Type="http://schemas.openxmlformats.org/officeDocument/2006/relationships/notesSlide" Target="/ppt/notesSlides/notesSlide5.xml" Id="R31b733cad734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da9bc1b1149ac" /><Relationship Type="http://schemas.openxmlformats.org/officeDocument/2006/relationships/notesSlide" Target="/ppt/notesSlides/notesSlide6.xml" Id="Rb63ac5ed4caf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18EF9-49EA-4663-9ED9-8F2A4306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2B6F-AA67-4C3B-9867-6A0AC49B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+ ICM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A01A1-4114-463D-9016-516FBBE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Method, setup, and intrinsic reward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2899A-D64A-497E-9CF7-CCEDA47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A6A64-70FA-469F-983F-0994894D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AEDB0-8A25-42FD-9B13-87EF5AF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3705225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BC0AF-D814-42EB-A6AA-0A4EE0E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5F6AF-48BB-40EC-8314-3EA956A8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Learns inverse and forward dynamics in latent space.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Intrinsic reward is forward prediction error.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uses r_total = r_ext + beta*r_ICM.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ADF4C-A7A5-44BA-B057-8F5449D2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Shared backbone: PPO + CNN Actor-Critic. Only the intrinsic reward module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22CF2-9580-4BB8-AE20-11CE1B7A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076325"/>
            <a:ext cx="3048000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C042F-4C4C-4D49-ADFD-90FD8952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28725"/>
            <a:ext cx="1238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Key settings</a:t>
            </a:r>
          </a:p>
        </p:txBody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4591050" y="1581150"/>
          <a:ext xmlns:a="http://schemas.openxmlformats.org/drawingml/2006/main" cx="2676525" cy="1295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38263"/>
                <a:gridCol w="1338263"/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Intrinsic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ICM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latent_dim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module lr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0.0001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batch/update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32 / 1.0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A2D54-155E-44F4-B91B-284B6AA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076325"/>
            <a:ext cx="4038600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89215-705A-4639-B004-CEC9695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Protocol</a:t>
            </a:r>
          </a:p>
        </p:txBody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7886700" y="1581150"/>
          <a:ext xmlns:a="http://schemas.openxmlformats.org/drawingml/2006/main" cx="3638550" cy="1295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19275"/>
                <a:gridCol w="1819275"/>
              </a:tblGrid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Train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SuperMarioBros-1-1-v0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4-frame stack, 84x84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SIMPLE_MOVEMENT, 7 actions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Budget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1,000,000 timesteps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sample / greedy; best by sample validation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C508A-9C6C-4775-BC1D-BA9DA8EE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4981575" cy="2428875"/>
          </a:xfrm>
          <a:prstGeom xmlns:a="http://schemas.openxmlformats.org/drawingml/2006/main" prst="roundRect">
            <a:avLst>
              <a:gd name="adj" fmla="val 10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7A055-8A5C-4489-A0A7-967CEA81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Training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34065-DDFF-4F7B-B0C8-1D99BA71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0000"/>
            <a:ext cx="1238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Observation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4x84x84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5AAB5-5622-4D4C-82E4-6C289CF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0"/>
            <a:ext cx="13049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CNN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Actor-Critic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F6385-6643-460A-B0DD-8546FBF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0000"/>
            <a:ext cx="13811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Policy / Value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AF24A-9832-4E90-9412-8CED29C6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95825"/>
            <a:ext cx="13049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FFCF7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ICM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intrinsic module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0FAA3-669A-4821-B578-6900045D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95825"/>
            <a:ext cx="13811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7E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r_total = r_ext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+ beta*r_int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327BF-F353-45C5-AA8C-20AA65A0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57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BEE71-511B-48DA-8F52-7ACD210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C64EC-763F-410D-A10F-373303C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DA8ED-093A-43B0-A64E-AF40F9E9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514850"/>
            <a:ext cx="2762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F6BB2-9D27-42C8-A1A2-6932016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434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6AE82-0ED9-4E82-BEC0-2EEF5DA6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76600"/>
            <a:ext cx="6057900" cy="2428875"/>
          </a:xfrm>
          <a:prstGeom xmlns:a="http://schemas.openxmlformats.org/drawingml/2006/main" prst="roundRect">
            <a:avLst>
              <a:gd name="adj" fmla="val 10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A69A28-1619-4543-BB4D-E8DDB333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Signals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15cbf5c12433d"/>
          <a:stretch xmlns:a="http://schemas.openxmlformats.org/drawingml/2006/main"/>
        </p:blipFill>
        <p:spPr>
          <a:xfrm xmlns:a="http://schemas.openxmlformats.org/drawingml/2006/main">
            <a:off x="6598920" y="3876675"/>
            <a:ext cx="2023110" cy="1123950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6d06ac6c243b4"/>
          <a:stretch xmlns:a="http://schemas.openxmlformats.org/drawingml/2006/main"/>
        </p:blipFill>
        <p:spPr>
          <a:xfrm xmlns:a="http://schemas.openxmlformats.org/drawingml/2006/main">
            <a:off x="9458325" y="3892550"/>
            <a:ext cx="2000250" cy="11112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78951-E1B0-4434-9263-FA6DB80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91125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09580-B10B-4FFA-9455-DDA035A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6732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D57560-3B0F-444E-92C1-C66C5DAF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483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x=1237.2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D0015-3CB8-4B20-BAAC-E5FAFF38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86425"/>
            <a:ext cx="1295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best step 900k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EB98A-2C4B-4E1D-82ED-4B954AE3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91125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1D8A5-C66F-4C59-A0DF-D2FC6DF9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6732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7FBD7D-F92B-4C38-8BDA-134025A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483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x=785.0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3BCCE1-17B0-4B75-92E9-4DC8331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86425"/>
            <a:ext cx="1295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sample mean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B7D14-AFC7-4EC8-B330-4FE96BC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91125"/>
            <a:ext cx="1581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6CFB54-C06F-41B1-BA80-B4055FB1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67325"/>
            <a:ext cx="1390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 terminal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22EE4E-4B49-4AE5-ACF0-FCB3F99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483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x=3161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C24428-2E34-4C01-A03B-FDD93704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86425"/>
            <a:ext cx="1390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4 inferred terminal episodes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5500D3-F7C3-47FE-8C8E-B7A8C23D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91125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84EC87-9F43-4061-B290-87D51691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6732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240AA-297C-44BF-802D-DE3E6B8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448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GPU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8F6CFB-DF63-4C15-9431-163C7EA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86425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CUDA | 8.54 sec/1k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6B58E8-7EEB-40FA-9B76-8AB1BFE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Evidence: selected 1M World 1-1 runs, best_summary.json, one_million_run_metrics.csv, and training_completion_audit.md.</a:t>
            </a:r>
          </a:p>
        </p:txBody>
      </p:sp>
    </p:spTree>
    <p:extLst>
      <p:ext uri="{BB962C8B-B14F-4D97-AF65-F5344CB8AC3E}">
        <p14:creationId xmlns:p14="http://schemas.microsoft.com/office/powerpoint/2010/main" val="1861053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62023-E6FC-4016-BB0A-56D32897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2D936-4BD2-4CEE-8A75-C7C2589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+ ICM: World 1-1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A54F3-578D-4781-9601-2011C67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Progress, reward, and video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AA313-2597-471F-8138-DFACD101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022D7-A909-4454-ABF5-D62C88C8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05F45-375E-460B-8B3C-75472CC7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1249025" cy="542925"/>
          </a:xfrm>
          <a:prstGeom xmlns:a="http://schemas.openxmlformats.org/drawingml/2006/main" prst="roundRect">
            <a:avLst>
              <a:gd name="adj" fmla="val 49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5BD1C-7C84-4DCA-93A0-4F2FF2E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F0617-8B3E-43FD-8347-4F5C88E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811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Train, validation, and test are all on SuperMarioBros-1-1-v0. Best checkpoints use sample-mode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5B6B-6528-4FB5-A7B8-D27DBE2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358140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A86CE-592A-477B-8E91-0DA7037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85950"/>
            <a:ext cx="17335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1-1 training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4F25B-9F5E-49C7-AFA5-DBEB3BF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4 episodes reached</a:t>
            </a:r>
          </a:p>
          <a:p xmlns:a="http://schemas.openxmlformats.org/drawingml/2006/main">
            <a:pPr algn="ctr">
              <a:defRPr sz="1200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final_x=3161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442AA-A95A-4715-82B2-7013DF6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No flag_get column in the selected run. Completion is inferred from terminal x_pos and high reward.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1550B-5605-492A-A90F-CD0F881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52600"/>
            <a:ext cx="800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8C1C8-C057-4135-9006-CEAF7302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28800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9911B-D05B-4B56-AEA5-312FDC3F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97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7480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94C43-A444-44CD-889E-4C4CABB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4790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A4A64-2828-4EDC-A229-6BF25C35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F825-3F21-416E-BD3F-9E77FDA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288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C4CB6-E735-4ACE-BD41-09FD6282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97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3033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006E6-A5E9-456A-80BA-A46CF68A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best 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E113D-C12A-438B-BFD6-E246DFD7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52600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70263-494D-4EDF-819C-F2E277C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288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max_x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47EE5-C709-4448-B220-039F730A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97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3161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1E391-217B-4504-91B4-BA91F4E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479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 max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9A4C35-F90F-4CBB-BB42-5A583BE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1085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E5B02-E8B0-4168-A40D-2548C67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reward/prog.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034EF-380E-4828-A92C-5BBEB7F3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97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Diff.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E9096-E229-4807-AD07-15A1EC55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895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video &lt; train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6D493-5962-47FE-A49D-165946F0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19350"/>
            <a:ext cx="38004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95E93-4F13-4182-869B-DADA503E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050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4"/>
                </a:solidFill>
                <a:latin typeface="Aptos"/>
                <a:ea typeface="Aptos"/>
                <a:cs typeface="Aptos"/>
              </a:rPr>
              <a:t>Clear /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C2EAF-AAEB-41C9-BED5-CE62786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955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Reached x=3161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146CC-C774-4CF7-9793-FC5323B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24150"/>
            <a:ext cx="2276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max_x = 3161 / 3161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63FBB3-5388-467E-9795-082E323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47975"/>
            <a:ext cx="353377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</p:sp>
      <p:graphicFrame>
        <p:nvGraphicFramePr>
          <p:cNvPr id="80" name=""/>
          <p:cNvGraphicFramePr/>
          <p:nvPr/>
        </p:nvGraphicFramePr>
        <p:xfrm>
          <a:off xmlns:a="http://schemas.openxmlformats.org/drawingml/2006/main" x="4229100" y="3152775"/>
          <a:ext xmlns:a="http://schemas.openxmlformats.org/drawingml/2006/main" cx="3800475" cy="55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0119"/>
                <a:gridCol w="950119"/>
                <a:gridCol w="950119"/>
                <a:gridCol w="950119"/>
              </a:tblGrid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1M steps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best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1237.2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2008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test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1442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AE7C3-6E86-445E-BE76-F540BF1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58140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68E2F-F3F8-404F-8EA2-12B21B77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16002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saved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DE6A7F-7796-4D6F-8810-5529E7F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5CA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CA8"/>
                </a:solidFill>
                <a:latin typeface="Arial"/>
                <a:ea typeface="Arial"/>
                <a:cs typeface="Arial"/>
              </a:rPr>
              <a:t>best video x=1435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BD4F1-447D-4F2A-8AA8-D9808387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xyDeng_ppo_icm_1m_cuda_seed1_1780669071_ppo_step_800000_sample20.mp4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5BDEA5-B25A-4043-AE5D-7737027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7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Saved videos show rollouts, not confirmed clears. Training logs provide terminal x evidence.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203CA1-9D7C-46E7-8DBB-374FF4AE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476625" cy="4381500"/>
          </a:xfrm>
          <a:prstGeom xmlns:a="http://schemas.openxmlformats.org/drawingml/2006/main" prst="roundRect">
            <a:avLst>
              <a:gd name="adj" fmla="val 76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1D10AF-D8EB-4E4E-AF2D-D4968B9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CA8"/>
          </a:solidFill>
          <a:ln xmlns:a="http://schemas.openxmlformats.org/drawingml/2006/main" w="0">
            <a:solidFill>
              <a:srgbClr val="005C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Reward-progress consistency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177ff76fb4f95"/>
          <a:stretch xmlns:a="http://schemas.openxmlformats.org/drawingml/2006/main"/>
        </p:blipFill>
        <p:spPr>
          <a:xfrm xmlns:a="http://schemas.openxmlformats.org/drawingml/2006/main">
            <a:off x="8505825" y="2332038"/>
            <a:ext cx="2886075" cy="16033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1e3b03ca4ca8"/>
          <a:stretch xmlns:a="http://schemas.openxmlformats.org/drawingml/2006/main"/>
        </p:blipFill>
        <p:spPr>
          <a:xfrm xmlns:a="http://schemas.openxmlformats.org/drawingml/2006/main">
            <a:off x="8505825" y="4284663"/>
            <a:ext cx="2886075" cy="160337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23411F-4B76-43B1-BEF6-38091412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229350"/>
            <a:ext cx="11258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C1B8C4-F3EB-43C8-AD99-2ED0A30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ICM gives stronger mean validation progress, but its saved rollout does not show a confirmed clear.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09EEE6-61E7-4442-8508-9DD1C32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Evidence: final_selected_runs_1_1 and xyDeng/videos. Completion claims are conservative.</a:t>
            </a:r>
          </a:p>
        </p:txBody>
      </p:sp>
    </p:spTree>
    <p:extLst>
      <p:ext uri="{BB962C8B-B14F-4D97-AF65-F5344CB8AC3E}">
        <p14:creationId xmlns:p14="http://schemas.microsoft.com/office/powerpoint/2010/main" val="1859704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42EC6-06A6-4361-992B-1029D324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D23FC-5F46-4D6C-9733-EC0D34B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+ Disagreement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43A96-4B5E-4004-A41C-0467898B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Method, setup, and intrinsic reward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5B03-BBEB-4C3B-AA11-5AB1C30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7989A-37BC-4825-8DEB-B7E7BEE7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D76DE-A25D-4D2B-A077-EB7C7E4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3705225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0B085-64C4-49D8-A95D-F16B4CE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63AF3-7EF6-40FD-B9C8-DB315FEB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Trains an ensemble of forward models.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Intrinsic reward is prediction disagreement.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explores states with high model uncertainty.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92ED5-096E-4228-8AD7-81D46F1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Shared backbone: PPO + CNN Actor-Critic. Only the intrinsic reward module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22926-17F0-4CCC-BF3D-A545E5C8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076325"/>
            <a:ext cx="3048000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843EB-5D13-403E-A288-41D735F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28725"/>
            <a:ext cx="1238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Key settings</a:t>
            </a:r>
          </a:p>
        </p:txBody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4591050" y="1581150"/>
          <a:ext xmlns:a="http://schemas.openxmlformats.org/drawingml/2006/main" cx="2676525" cy="1295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38263"/>
                <a:gridCol w="1338263"/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Intrinsic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Disagreement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ensemble_size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latent_dim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</a:p>
                  </a:txBody>
                  <a:tcPr marL="91440" marR="91440" marT="45720" marB="45720"/>
                </a:tc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batch/update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32 / 1.0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1867-C13E-454D-B085-36234848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076325"/>
            <a:ext cx="4038600" cy="2009775"/>
          </a:xfrm>
          <a:prstGeom xmlns:a="http://schemas.openxmlformats.org/drawingml/2006/main" prst="roundRect">
            <a:avLst>
              <a:gd name="adj" fmla="val 1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1FBED-CF6E-42C1-988B-B6A0270D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Protocol</a:t>
            </a:r>
          </a:p>
        </p:txBody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7886700" y="1581150"/>
          <a:ext xmlns:a="http://schemas.openxmlformats.org/drawingml/2006/main" cx="3638550" cy="1295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19275"/>
                <a:gridCol w="1819275"/>
              </a:tblGrid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Train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SuperMarioBros-1-1-v0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4-frame stack, 84x84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SIMPLE_MOVEMENT, 7 actions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Budget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1,000,000 timesteps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sample / greedy; best by sample validation</a:t>
                      </a:r>
                    </a:p>
                  </a:txBody>
                  <a:tcPr marL="91440" marR="91440" marT="45720" marB="45720"/>
                </a:tc>
              </a:tr>
              <a:tr h="185057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1A863-F23F-454B-A564-4ED7C8C3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4981575" cy="2428875"/>
          </a:xfrm>
          <a:prstGeom xmlns:a="http://schemas.openxmlformats.org/drawingml/2006/main" prst="roundRect">
            <a:avLst>
              <a:gd name="adj" fmla="val 10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98EE0-BE20-48A2-A5D1-4B004B8D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Training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89CF7-76D2-4956-ADBF-54192F5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0000"/>
            <a:ext cx="1238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Observation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4x84x84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0E80D-BA08-41F7-A2CF-0F53B2C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0"/>
            <a:ext cx="13049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CNN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Actor-Critic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BE5E0-A0FA-46FC-98F6-B37F7CC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0000"/>
            <a:ext cx="13811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F1F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Policy / Value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AA8EF-913D-49E6-B93C-8BAEFD5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95825"/>
            <a:ext cx="13049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FFCF7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Disagreement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intrinsic module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ED785-5678-42ED-9731-629C7187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95825"/>
            <a:ext cx="13811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7EB"/>
          </a:solidFill>
          <a:ln xmlns:a="http://schemas.openxmlformats.org/drawingml/2006/main" w="9525">
            <a:solidFill>
              <a:srgbClr val="CAD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r_total = r_ext</a:t>
            </a:r>
          </a:p>
          <a:p xmlns:a="http://schemas.openxmlformats.org/drawingml/2006/main">
            <a:pPr algn="ctr">
              <a:defRPr sz="97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+ beta*r_int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0676B-EE6B-40D9-9C1C-B43F2F6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57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C1A28-BB16-4A92-8CE7-BEED9B2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67A03-5621-4487-B5CC-1F530A6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EE331-A7F5-4BBB-96CC-FBE57A7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514850"/>
            <a:ext cx="2762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C3EDD-42C4-4BE2-A5BD-787F47B0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434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D8F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5D865-BE28-4350-BA71-0A9F794B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76600"/>
            <a:ext cx="6057900" cy="2428875"/>
          </a:xfrm>
          <a:prstGeom xmlns:a="http://schemas.openxmlformats.org/drawingml/2006/main" prst="roundRect">
            <a:avLst>
              <a:gd name="adj" fmla="val 10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F152C-7CA7-48B0-91B5-AF78487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Signals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80323a2d54d68"/>
          <a:stretch xmlns:a="http://schemas.openxmlformats.org/drawingml/2006/main"/>
        </p:blipFill>
        <p:spPr>
          <a:xfrm xmlns:a="http://schemas.openxmlformats.org/drawingml/2006/main">
            <a:off x="6598920" y="3876675"/>
            <a:ext cx="2023110" cy="1123950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7d2d1e724d94"/>
          <a:stretch xmlns:a="http://schemas.openxmlformats.org/drawingml/2006/main"/>
        </p:blipFill>
        <p:spPr>
          <a:xfrm xmlns:a="http://schemas.openxmlformats.org/drawingml/2006/main">
            <a:off x="9458325" y="3892550"/>
            <a:ext cx="2000250" cy="11112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F71EC-7763-4E51-AF02-2C51A05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91125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F4DD9-2B01-49EF-8148-F15394E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6732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A9DBA-9036-4A88-A2E8-232659D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483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x=1140.8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5B4F57-7BBC-4A0F-9C42-D91FA0EE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86425"/>
            <a:ext cx="1295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best step 950k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CE53C9-E763-4F56-8A73-7574A44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91125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7C2205-3F84-4D01-BD44-65D483C7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6732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A16472-5185-438F-9213-A255C3B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483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x=784.6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1A6B1B-AE83-4E42-978E-263C734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86425"/>
            <a:ext cx="1295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sample mean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E3FD66-FE47-4BAA-AB6F-15732E3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91125"/>
            <a:ext cx="1581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22CE61-8091-4DFF-AA06-B154248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67325"/>
            <a:ext cx="1390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 terminal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EC65C8-3886-4BD8-BE77-1C008CD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483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x=3161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DCC43C-B43A-47C6-9804-1F0276B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86425"/>
            <a:ext cx="1390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 inferred terminal episode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83D8A3-9D34-486A-8054-06152B72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91125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084C4-BD7D-48CF-BBD9-5ED4F6AC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6732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954FC7-5933-4EE7-ADD5-354E567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448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A137D7-9440-4BCA-8227-5AA5EF2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86425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12.01 sec/1k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5B7621-3E3A-4D4A-912F-FE2B375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Evidence: selected 1M World 1-1 runs, best_summary.json, one_million_run_metrics.csv, and training_completion_audit.md.</a:t>
            </a:r>
          </a:p>
        </p:txBody>
      </p:sp>
    </p:spTree>
    <p:extLst>
      <p:ext uri="{BB962C8B-B14F-4D97-AF65-F5344CB8AC3E}">
        <p14:creationId xmlns:p14="http://schemas.microsoft.com/office/powerpoint/2010/main" val="1791344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1234E3-B5E0-48BF-8712-5A82EA5A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4139A-BCF4-4C78-965D-4D91EBA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PPO + Disagreement: World 1-1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D741A-4CB8-4A71-A17A-1ACF760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Progress, reward, and video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3C5E6-5E8C-4E6D-A1B0-AFBDDC86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5A27D-4A09-47E3-80B6-3975FA3A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C89F-CB1B-4523-AD60-8ED975A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1249025" cy="542925"/>
          </a:xfrm>
          <a:prstGeom xmlns:a="http://schemas.openxmlformats.org/drawingml/2006/main" prst="roundRect">
            <a:avLst>
              <a:gd name="adj" fmla="val 49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7925-44DC-439D-A6E9-A44653AA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FD096-928E-4E52-8C4D-4CED1C9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811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Train, validation, and test are all on SuperMarioBros-1-1-v0. Best checkpoints use sample-mode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43690-70A6-4E1B-B9F6-80594190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358140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058A8-A3EA-4425-AD24-C7CCBF5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85950"/>
            <a:ext cx="17335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1-1 training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C8E49-968C-4DDB-875D-172A9E17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1 episode reached</a:t>
            </a:r>
          </a:p>
          <a:p xmlns:a="http://schemas.openxmlformats.org/drawingml/2006/main">
            <a:pPr algn="ctr">
              <a:defRPr sz="1200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max_x=3161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BA4A3-9810-4DD9-9EBA-80FA43B4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The selected run gives inferred terminal-progress evidence. The deck uses only World 1-1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594D2-AB02-43FB-AF22-71B5B963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52600"/>
            <a:ext cx="800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2177A-2D0D-46DE-BF25-ADABE47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28800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37675-3CD0-47E3-962E-62897910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97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7994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A22A7-1510-42AC-B1D0-8ED4638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4790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57AEA-3515-43B3-93B0-9973B1A8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F93D3-9A68-4311-A5C0-072FD5C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288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9DFAB-C14F-4166-A12B-1CBA9AB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97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3020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E5575-AF03-438B-BBCC-D19E5487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best 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ECAE-69CD-4538-AFC7-1BF3B35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52600"/>
            <a:ext cx="857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B748A-B540-43CF-BD68-6AD1207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288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max_x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C2870-0C66-4C54-B3BA-D7CF6B7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97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3161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3E2AE-29A6-4321-955E-5041585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479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train max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24D97-3240-499B-B8AA-93C19523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1085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BAEF7-2865-41C2-B963-8199FB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reward/prog.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9C354-96DC-4632-921A-11CE4575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97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Diff.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E7ACF-FD96-41C8-821F-CEC467A7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895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video &lt; train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65A64-2A37-4148-ADC8-766E3230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19350"/>
            <a:ext cx="38004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478B6-85C2-4407-ADE8-F3F336A0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050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4"/>
                </a:solidFill>
                <a:latin typeface="Aptos"/>
                <a:ea typeface="Aptos"/>
                <a:cs typeface="Aptos"/>
              </a:rPr>
              <a:t>Clear /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CA17B2-530E-4B43-8988-30F4AC25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955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Reached x=3161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25E5E-FF8F-4388-B51E-8CAC3634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24150"/>
            <a:ext cx="2276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max_x = 3161 / 3161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8F4EB-FE99-4604-96F6-CF6F4DA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47975"/>
            <a:ext cx="353377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</p:sp>
      <p:graphicFrame>
        <p:nvGraphicFramePr>
          <p:cNvPr id="80" name=""/>
          <p:cNvGraphicFramePr/>
          <p:nvPr/>
        </p:nvGraphicFramePr>
        <p:xfrm>
          <a:off xmlns:a="http://schemas.openxmlformats.org/drawingml/2006/main" x="4229100" y="3152775"/>
          <a:ext xmlns:a="http://schemas.openxmlformats.org/drawingml/2006/main" cx="3800475" cy="55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0119"/>
                <a:gridCol w="950119"/>
                <a:gridCol w="950119"/>
                <a:gridCol w="950119"/>
              </a:tblGrid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1M steps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best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1140.8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2021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test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784.6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1634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48C75E-D849-40F0-8BE4-01F28FD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58140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08E18-96BF-4DFF-8730-7D06719F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16002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saved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D2C469-50E6-4F49-B28C-9F6DB0A9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243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43B6"/>
                </a:solidFill>
                <a:latin typeface="Arial"/>
                <a:ea typeface="Arial"/>
                <a:cs typeface="Arial"/>
              </a:rPr>
              <a:t>best video x=2009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8C49BB-245F-4D91-8B59-99E55D47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xyDeng_ppo_disagreement_1m_cpu_seed1_1780679739_last_sample20.mp4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F2EFB9-FD11-4E26-BC25-8F1EFEB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7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Saved videos show rollouts, not confirmed clears. Training logs provide terminal x evidence.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F6538F-2285-4E13-8733-938BDE4E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476625" cy="4381500"/>
          </a:xfrm>
          <a:prstGeom xmlns:a="http://schemas.openxmlformats.org/drawingml/2006/main" prst="roundRect">
            <a:avLst>
              <a:gd name="adj" fmla="val 76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B08E52-F5DF-4F9A-B311-1EB0737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43B6"/>
          </a:solidFill>
          <a:ln xmlns:a="http://schemas.openxmlformats.org/drawingml/2006/main" w="0">
            <a:solidFill>
              <a:srgbClr val="6243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Reward-progress consistency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c6c8819a24e66"/>
          <a:stretch xmlns:a="http://schemas.openxmlformats.org/drawingml/2006/main"/>
        </p:blipFill>
        <p:spPr>
          <a:xfrm xmlns:a="http://schemas.openxmlformats.org/drawingml/2006/main">
            <a:off x="8505825" y="2332038"/>
            <a:ext cx="2886075" cy="16033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e0bfda9df4e60"/>
          <a:stretch xmlns:a="http://schemas.openxmlformats.org/drawingml/2006/main"/>
        </p:blipFill>
        <p:spPr>
          <a:xfrm xmlns:a="http://schemas.openxmlformats.org/drawingml/2006/main">
            <a:off x="8505825" y="4284663"/>
            <a:ext cx="2886075" cy="160337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A708C8-F563-4869-9C68-AE5A9E2D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229350"/>
            <a:ext cx="11258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5FF3B1-279F-4DAD-9A32-3110016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Disagreement gives the farthest saved rollout, reaching x=2009 in the recorded videos.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DFE95D-A456-40D1-B782-BB81C58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Evidence: final_selected_runs_1_1 and xyDeng/videos. Completion claims are conservative.</a:t>
            </a:r>
          </a:p>
        </p:txBody>
      </p:sp>
    </p:spTree>
    <p:extLst>
      <p:ext uri="{BB962C8B-B14F-4D97-AF65-F5344CB8AC3E}">
        <p14:creationId xmlns:p14="http://schemas.microsoft.com/office/powerpoint/2010/main" val="129854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90E3E-7290-4642-8919-41883D7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A101-3408-421E-9587-FEE773D0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ICM vs Disagreement: World 1-1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08C12-D763-459E-8F3F-570C736C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Same PPO backbone, same 1M-step budget, same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E321A-C7CF-445B-B2E6-9348695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15756-218E-4D0C-937A-367FE7D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E372D-F936-4744-A70C-ACD73BAC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3657600" cy="49530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0676-4A7F-4F82-93D3-883B018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28725"/>
            <a:ext cx="1047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metrics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3219450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73150"/>
                <a:gridCol w="1073150"/>
                <a:gridCol w="1073150"/>
              </a:tblGrid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PPO+ICM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PPO+Dis.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Device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CUDA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CPU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Episodes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7480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7994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Best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900k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950k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Val mean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1237.2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1140.8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Test mean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784.6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Train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3161</a:t>
                      </a:r>
                    </a:p>
                  </a:txBody>
                  <a:tcPr marL="91440" marR="91440" marT="45720" marB="45720"/>
                </a:tc>
              </a:tr>
              <a:tr h="340519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Best video max_x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1435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2009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DBACF-A652-4A16-896C-7E8CDA8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ICM has slightly higher mean validation progress. Disagreement has the farther saved rollout. Both reach terminal x=3161 during training.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ADC03-5FD9-4411-A4B6-9C65A04D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076325"/>
            <a:ext cx="733425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4C87E-69BE-42F2-8488-8DEC92A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28725"/>
            <a:ext cx="9525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Curves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27b255e74913"/>
          <a:stretch xmlns:a="http://schemas.openxmlformats.org/drawingml/2006/main"/>
        </p:blipFill>
        <p:spPr>
          <a:xfrm xmlns:a="http://schemas.openxmlformats.org/drawingml/2006/main">
            <a:off x="4872990" y="1609725"/>
            <a:ext cx="2846070" cy="15811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6f49b61db4c81"/>
          <a:stretch xmlns:a="http://schemas.openxmlformats.org/drawingml/2006/main"/>
        </p:blipFill>
        <p:spPr>
          <a:xfrm xmlns:a="http://schemas.openxmlformats.org/drawingml/2006/main">
            <a:off x="8378190" y="1609725"/>
            <a:ext cx="2846070" cy="1581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538CF-777A-4095-B45E-E0DD136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48075"/>
            <a:ext cx="352425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2CBF8-DB0C-469A-92AB-ECA8E31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00475"/>
            <a:ext cx="9525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4629150" y="4219575"/>
          <a:ext xmlns:a="http://schemas.openxmlformats.org/drawingml/2006/main" cx="3067050" cy="87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66763"/>
                <a:gridCol w="766763"/>
                <a:gridCol w="766763"/>
                <a:gridCol w="766763"/>
              </a:tblGrid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CPU sec/1k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CUDA sec/1k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Used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ICM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11.88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8.54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CUDA</a:t>
                      </a:r>
                    </a:p>
                  </a:txBody>
                  <a:tcPr marL="91440" marR="91440" marT="45720" marB="45720"/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ptos"/>
                          <a:ea typeface="Aptos"/>
                          <a:cs typeface="Aptos"/>
                        </a:rPr>
                        <a:t>Disagreement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12.01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13.43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675" b="0">
                          <a:solidFill>
                            <a:srgbClr val="202938"/>
                          </a:solidFill>
                          <a:latin typeface="Arial"/>
                          <a:ea typeface="Arial"/>
                          <a:cs typeface="Arial"/>
                        </a:rPr>
                        <a:t>CPU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8692A-195D-46B0-B3A5-ADB5AA0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86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Device choice follows the 10k-step benchmark: CUDA for ICM, CPU for Disagreement.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CF0E1-38B2-4409-8B80-B8B08FF1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3533775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98178-F49E-46E9-BB18-30E56AD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0047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Fair 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E0AC0-D003-441A-A751-74B1F5A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C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5CA8"/>
                </a:solidFill>
                <a:latin typeface="Aptos"/>
                <a:ea typeface="Aptos"/>
                <a:cs typeface="Aptos"/>
              </a:rPr>
              <a:t>ICM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F2CA2-2017-40EF-B966-79EABF3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Forward-model error gives dense curiosity. This run shows stronger mean validation progress.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A3E9A-E895-4A59-8FE7-8735E4B4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243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43B6"/>
                </a:solidFill>
                <a:latin typeface="Aptos"/>
                <a:ea typeface="Aptos"/>
                <a:cs typeface="Aptos"/>
              </a:rPr>
              <a:t>Disagreement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DFFED-C1A8-4920-BE02-9872081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721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Ensemble uncertainty gives the best saved rollout, reaching max_x=2009.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D1EAF-8387-4F8C-8A63-36AEF42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Evidence: run_summary.md, device_benchmark_10k.csv, one_million_run_metrics.csv, and xyDeng/videos.</a:t>
            </a:r>
          </a:p>
        </p:txBody>
      </p:sp>
    </p:spTree>
    <p:extLst>
      <p:ext uri="{BB962C8B-B14F-4D97-AF65-F5344CB8AC3E}">
        <p14:creationId xmlns:p14="http://schemas.microsoft.com/office/powerpoint/2010/main" val="556771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247A8-3E14-4B32-A624-DFD50532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0668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D6EAF-A196-44D2-BB89-488FE4F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What we can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F3A65-E321-4942-9851-4E7341D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Claim boundary, evidence,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2C4D5-BBF3-4B19-9D07-EC188203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"/>
            <a:ext cx="21336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7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Mario RL / PPO intrinsic rewards</a:t>
            </a:r>
          </a:p>
          <a:p xmlns:a="http://schemas.openxmlformats.org/drawingml/2006/main">
            <a:pPr algn="ctr">
              <a:defRPr sz="75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07084"/>
                </a:solidFill>
                <a:latin typeface="Aptos"/>
                <a:ea typeface="Aptos"/>
                <a:cs typeface="Aptos"/>
              </a:rPr>
              <a:t>1M steps | seed 1 | World 1-1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5F02A-7541-4C4C-A017-2DC7C93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10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DD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3232E-18EE-4F08-B3B9-A33268A5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361950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8A695-8AE8-4E5B-AD9D-8E5970B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Main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53869-E908-4CE7-ABCF-6D09D9D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87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Both methods learn useful exploration on World 1-1 and reach terminal x_pos=3161 during training.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87402-5BF1-4EBA-B436-62F6A6A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 not present sampled videos as full-clear proof. They are policy visualizations.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2D536-E605-44AD-81B2-7C6D7C0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076325"/>
            <a:ext cx="352425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8CEE6-BD14-438E-B8E4-39C266D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28725"/>
            <a:ext cx="1143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Best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613B6-3E21-4D45-A920-8E43EF21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62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938"/>
                </a:solidFill>
                <a:latin typeface="Aptos"/>
                <a:ea typeface="Aptos"/>
                <a:cs typeface="Aptos"/>
              </a:rPr>
              <a:t>Use ICM for mean validation progress. Use Disagreement for the farthest saved rollout.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AD45A-22D6-411E-8366-71B35E10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Fair wording: the methods are close. One seed is not enough for a strong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43A4B-CA95-401E-AB68-D5D92BDE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76325"/>
            <a:ext cx="352425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421B0-0FED-400C-A780-AA96AB8F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28725"/>
            <a:ext cx="119062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F8ECA-2E98-43AC-8213-296213F7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57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Use World 1-1 only: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- ICM best-sample video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- Disagreement last-sample20 video</a:t>
            </a:r>
          </a:p>
          <a:p xmlns:a="http://schemas.openxmlformats.org/drawingml/2006/main">
            <a:pPr algn="ctr">
              <a:defRPr sz="975" b="0">
                <a:solidFill>
                  <a:srgbClr val="2029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02938"/>
                </a:solidFill>
                <a:latin typeface="Arial"/>
                <a:ea typeface="Arial"/>
                <a:cs typeface="Arial"/>
              </a:rPr>
              <a:t>- 1m_comparison plots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0FDA7-9EAC-40EB-A87E-927DD8F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57600"/>
            <a:ext cx="11268075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AFB7D-639D-4E5F-81C5-170DD3B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0000"/>
            <a:ext cx="24765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To record a confirmed clear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02A40-5C24-4AD8-A04E-172E926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476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FF707-2446-4BDC-93C0-E2CB7BD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Checkpoint 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5F5EC-E81E-4395-995A-8E93327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Run more sample episodes on 400k, 800k, best, and last checkpoints. Save the farthest flag_get=1 video.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E3325-9F88-43F4-BCF4-D54D6745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476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F9F01-7AD5-48E2-B390-0DA6E92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43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Flag logging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6DC4B-8ADF-4056-B615-C79F3F3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Log episode_flag_get in training and evaluation. Do not rely only on x_pos.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06787-31A3-4642-84ED-9B137C5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2476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85734-9325-4052-9273-394D4B2E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43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More seeds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39914-934F-4726-8852-A3ADAFD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Use at least 3 seeds to report mean and variance, not one-run luck.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5267C-1A76-4E06-9B68-073B9058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476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EFE87-54DB-48DB-8B9C-3C9460D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43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Longer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CBAA9-0C41-41A2-9ADB-8FC83F7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95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9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938"/>
                </a:solidFill>
                <a:latin typeface="Aptos"/>
                <a:ea typeface="Aptos"/>
                <a:cs typeface="Aptos"/>
              </a:rPr>
              <a:t>Continue from a strong 1-1 checkpoint, then search with greedy and sample policies.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C38C9-A909-4461-8821-E91363AD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722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Claim boundary: current saved videos are rollouts, not strict full-clear evidence.</a:t>
            </a:r>
          </a:p>
        </p:txBody>
      </p:sp>
    </p:spTree>
    <p:extLst>
      <p:ext uri="{BB962C8B-B14F-4D97-AF65-F5344CB8AC3E}">
        <p14:creationId xmlns:p14="http://schemas.microsoft.com/office/powerpoint/2010/main" val="567927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2026-06-15T12:26:55.3330000Z</dcterms:created>
  <dcterms:modified xsi:type="dcterms:W3CDTF">2026-06-15T12:26:55.3330000Z</dcterms:modified>
</coreProperties>
</file>